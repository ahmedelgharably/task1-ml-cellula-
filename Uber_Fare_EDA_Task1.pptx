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326880" y="-1463040"/>
            <a:ext cx="5029200" cy="5029200"/>
          </a:xfrm>
          <a:prstGeom prst="ellipse">
            <a:avLst/>
          </a:prstGeom>
          <a:solidFill>
            <a:srgbClr val="1C7293">
              <a:alpha val="22000"/>
            </a:srgbClr>
          </a:solidFill>
          <a:ln/>
        </p:spPr>
      </p:sp>
      <p:sp>
        <p:nvSpPr>
          <p:cNvPr id="3" name="Shape 1"/>
          <p:cNvSpPr/>
          <p:nvPr/>
        </p:nvSpPr>
        <p:spPr>
          <a:xfrm>
            <a:off x="-2011680" y="4206240"/>
            <a:ext cx="5669280" cy="5669280"/>
          </a:xfrm>
          <a:prstGeom prst="ellipse">
            <a:avLst/>
          </a:prstGeom>
          <a:solidFill>
            <a:srgbClr val="1C7293">
              <a:alpha val="15000"/>
            </a:srgbClr>
          </a:solidFill>
          <a:ln/>
        </p:spPr>
      </p:sp>
      <p:sp>
        <p:nvSpPr>
          <p:cNvPr id="4" name="Text 2"/>
          <p:cNvSpPr/>
          <p:nvPr/>
        </p:nvSpPr>
        <p:spPr>
          <a:xfrm>
            <a:off x="822960" y="1417320"/>
            <a:ext cx="9144000" cy="365760"/>
          </a:xfrm>
          <a:prstGeom prst="rect">
            <a:avLst/>
          </a:prstGeom>
          <a:noFill/>
          <a:ln/>
        </p:spPr>
        <p:txBody>
          <a:bodyPr wrap="square" rtlCol="0" anchor="ctr"/>
          <a:lstStyle/>
          <a:p>
            <a:pPr indent="0" marL="0">
              <a:buNone/>
            </a:pPr>
            <a:r>
              <a:rPr lang="en-US" sz="1300" spc="200" kern="0" dirty="0">
                <a:solidFill>
                  <a:srgbClr val="9FD8CB"/>
                </a:solidFill>
                <a:latin typeface="Calibri" pitchFamily="34" charset="0"/>
                <a:ea typeface="Calibri" pitchFamily="34" charset="-122"/>
                <a:cs typeface="Calibri" pitchFamily="34" charset="-120"/>
              </a:rPr>
              <a:t>CELLULA TECHNOLOGIES  •  ML INTERNSHIP PROGRAM</a:t>
            </a:r>
            <a:endParaRPr lang="en-US" sz="1300" dirty="0"/>
          </a:p>
        </p:txBody>
      </p:sp>
      <p:sp>
        <p:nvSpPr>
          <p:cNvPr id="5" name="Text 3"/>
          <p:cNvSpPr/>
          <p:nvPr/>
        </p:nvSpPr>
        <p:spPr>
          <a:xfrm>
            <a:off x="777240" y="1874520"/>
            <a:ext cx="10058400" cy="10058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Uber Fare Prediction</a:t>
            </a:r>
            <a:endParaRPr lang="en-US" sz="4600" dirty="0"/>
          </a:p>
        </p:txBody>
      </p:sp>
      <p:sp>
        <p:nvSpPr>
          <p:cNvPr id="6" name="Text 4"/>
          <p:cNvSpPr/>
          <p:nvPr/>
        </p:nvSpPr>
        <p:spPr>
          <a:xfrm>
            <a:off x="822960" y="2788920"/>
            <a:ext cx="9144000" cy="640080"/>
          </a:xfrm>
          <a:prstGeom prst="rect">
            <a:avLst/>
          </a:prstGeom>
          <a:noFill/>
          <a:ln/>
        </p:spPr>
        <p:txBody>
          <a:bodyPr wrap="square" rtlCol="0" anchor="ctr"/>
          <a:lstStyle/>
          <a:p>
            <a:pPr indent="0" marL="0">
              <a:buNone/>
            </a:pPr>
            <a:r>
              <a:rPr lang="en-US" sz="2200" dirty="0">
                <a:solidFill>
                  <a:srgbClr val="EAF4F4"/>
                </a:solidFill>
                <a:latin typeface="Calibri" pitchFamily="34" charset="0"/>
                <a:ea typeface="Calibri" pitchFamily="34" charset="-122"/>
                <a:cs typeface="Calibri" pitchFamily="34" charset="-120"/>
              </a:rPr>
              <a:t>Task 1 — Exploratory Data Analysis</a:t>
            </a:r>
            <a:endParaRPr lang="en-US" sz="2200" dirty="0"/>
          </a:p>
        </p:txBody>
      </p:sp>
      <p:sp>
        <p:nvSpPr>
          <p:cNvPr id="7" name="Text 5"/>
          <p:cNvSpPr/>
          <p:nvPr/>
        </p:nvSpPr>
        <p:spPr>
          <a:xfrm>
            <a:off x="822960" y="3429000"/>
            <a:ext cx="8046720" cy="548640"/>
          </a:xfrm>
          <a:prstGeom prst="rect">
            <a:avLst/>
          </a:prstGeom>
          <a:noFill/>
          <a:ln/>
        </p:spPr>
        <p:txBody>
          <a:bodyPr wrap="square" rtlCol="0" anchor="ctr"/>
          <a:lstStyle/>
          <a:p>
            <a:pPr indent="0" marL="0">
              <a:buNone/>
            </a:pPr>
            <a:r>
              <a:rPr lang="en-US" sz="1300" i="1" dirty="0">
                <a:solidFill>
                  <a:srgbClr val="5B7280"/>
                </a:solidFill>
                <a:latin typeface="Calibri" pitchFamily="34" charset="0"/>
                <a:ea typeface="Calibri" pitchFamily="34" charset="-122"/>
                <a:cs typeface="Calibri" pitchFamily="34" charset="-120"/>
              </a:rPr>
              <a:t>Choosing the right plot to understand fares, demand, and the NYC ride patterns behind them.</a:t>
            </a:r>
            <a:endParaRPr lang="en-US" sz="1300" dirty="0"/>
          </a:p>
        </p:txBody>
      </p:sp>
      <p:sp>
        <p:nvSpPr>
          <p:cNvPr id="8" name="Shape 6"/>
          <p:cNvSpPr/>
          <p:nvPr/>
        </p:nvSpPr>
        <p:spPr>
          <a:xfrm>
            <a:off x="822960" y="4343400"/>
            <a:ext cx="2743200" cy="914400"/>
          </a:xfrm>
          <a:prstGeom prst="rect">
            <a:avLst/>
          </a:prstGeom>
          <a:solidFill>
            <a:srgbClr val="13315C"/>
          </a:solidFill>
          <a:ln/>
          <a:effectLst>
            <a:outerShdw sx="100000" sy="100000" kx="0" ky="0" algn="bl" rotWithShape="0" blurRad="101600" dist="38100" dir="5400000">
              <a:srgbClr val="000000">
                <a:alpha val="25000"/>
              </a:srgbClr>
            </a:outerShdw>
          </a:effectLst>
        </p:spPr>
      </p:sp>
      <p:sp>
        <p:nvSpPr>
          <p:cNvPr id="9" name="Text 7"/>
          <p:cNvSpPr/>
          <p:nvPr/>
        </p:nvSpPr>
        <p:spPr>
          <a:xfrm>
            <a:off x="1051560" y="4526280"/>
            <a:ext cx="2377440" cy="594360"/>
          </a:xfrm>
          <a:prstGeom prst="rect">
            <a:avLst/>
          </a:prstGeom>
          <a:noFill/>
          <a:ln/>
        </p:spPr>
        <p:txBody>
          <a:bodyPr wrap="square" lIns="0" tIns="0" rIns="0" bIns="0" rtlCol="0" anchor="ctr"/>
          <a:lstStyle/>
          <a:p>
            <a:pPr indent="0" marL="0">
              <a:buNone/>
            </a:pPr>
            <a:r>
              <a:rPr lang="en-US" sz="1200" dirty="0">
                <a:solidFill>
                  <a:srgbClr val="5B7280"/>
                </a:solidFill>
                <a:latin typeface="Calibri" pitchFamily="34" charset="0"/>
                <a:ea typeface="Calibri" pitchFamily="34" charset="-122"/>
                <a:cs typeface="Calibri" pitchFamily="34" charset="-120"/>
              </a:rPr>
              <a:t>Prepared by  </a:t>
            </a:r>
            <a:pPr indent="0" marL="0">
              <a:buNone/>
            </a:pPr>
            <a:r>
              <a:rPr lang="en-US" sz="1400" b="1" dirty="0">
                <a:solidFill>
                  <a:srgbClr val="FFFFFF"/>
                </a:solidFill>
                <a:latin typeface="Calibri" pitchFamily="34" charset="0"/>
                <a:ea typeface="Calibri" pitchFamily="34" charset="-122"/>
                <a:cs typeface="Calibri" pitchFamily="34" charset="-120"/>
              </a:rPr>
              <a:t>Ahmed Elghrably</a:t>
            </a:r>
            <a:endParaRPr lang="en-US" sz="1200" dirty="0"/>
          </a:p>
          <a:p>
            <a:pPr indent="0" marL="0">
              <a:buNone/>
            </a:pPr>
            <a:r>
              <a:rPr lang="en-US" sz="1100" dirty="0">
                <a:solidFill>
                  <a:srgbClr val="9FD8CB"/>
                </a:solidFill>
                <a:latin typeface="Calibri" pitchFamily="34" charset="0"/>
                <a:ea typeface="Calibri" pitchFamily="34" charset="-122"/>
                <a:cs typeface="Calibri" pitchFamily="34" charset="-120"/>
              </a:rPr>
              <a:t>AI &amp; ML Engineering Student, Damietta University</a:t>
            </a:r>
            <a:endParaRPr lang="en-US" sz="1200" dirty="0"/>
          </a:p>
        </p:txBody>
      </p:sp>
      <p:sp>
        <p:nvSpPr>
          <p:cNvPr id="10" name="Text 8"/>
          <p:cNvSpPr/>
          <p:nvPr/>
        </p:nvSpPr>
        <p:spPr>
          <a:xfrm>
            <a:off x="822960" y="5577840"/>
            <a:ext cx="7315200" cy="365760"/>
          </a:xfrm>
          <a:prstGeom prst="rect">
            <a:avLst/>
          </a:prstGeom>
          <a:noFill/>
          <a:ln/>
        </p:spPr>
        <p:txBody>
          <a:bodyPr wrap="square" rtlCol="0" anchor="ctr"/>
          <a:lstStyle/>
          <a:p>
            <a:pPr indent="0" marL="0">
              <a:buNone/>
            </a:pPr>
            <a:r>
              <a:rPr lang="en-US" sz="1200" dirty="0">
                <a:solidFill>
                  <a:srgbClr val="5B7280"/>
                </a:solidFill>
                <a:latin typeface="Calibri" pitchFamily="34" charset="0"/>
                <a:ea typeface="Calibri" pitchFamily="34" charset="-122"/>
                <a:cs typeface="Calibri" pitchFamily="34" charset="-120"/>
              </a:rPr>
              <a:t>Dataset: final_internship_data.csv — real-world Uber trips, NYC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548640" y="256032"/>
            <a:ext cx="82296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Objective &amp; Dataset</a:t>
            </a:r>
            <a:endParaRPr lang="en-US" sz="2800" dirty="0"/>
          </a:p>
        </p:txBody>
      </p:sp>
      <p:sp>
        <p:nvSpPr>
          <p:cNvPr id="4" name="Text 2"/>
          <p:cNvSpPr/>
          <p:nvPr/>
        </p:nvSpPr>
        <p:spPr>
          <a:xfrm>
            <a:off x="548640" y="1325880"/>
            <a:ext cx="5394960" cy="365760"/>
          </a:xfrm>
          <a:prstGeom prst="rect">
            <a:avLst/>
          </a:prstGeom>
          <a:noFill/>
          <a:ln/>
        </p:spPr>
        <p:txBody>
          <a:bodyPr wrap="square"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Why EDA first?</a:t>
            </a:r>
            <a:endParaRPr lang="en-US" sz="1800" dirty="0"/>
          </a:p>
        </p:txBody>
      </p:sp>
      <p:sp>
        <p:nvSpPr>
          <p:cNvPr id="5" name="Text 3"/>
          <p:cNvSpPr/>
          <p:nvPr/>
        </p:nvSpPr>
        <p:spPr>
          <a:xfrm>
            <a:off x="548640" y="1737360"/>
            <a:ext cx="5394960" cy="1188720"/>
          </a:xfrm>
          <a:prstGeom prst="rect">
            <a:avLst/>
          </a:prstGeom>
          <a:noFill/>
          <a:ln/>
        </p:spPr>
        <p:txBody>
          <a:bodyPr wrap="square" rtlCol="0" anchor="t"/>
          <a:lstStyle/>
          <a:p>
            <a:pPr indent="0" marL="0">
              <a:buNone/>
            </a:pPr>
            <a:r>
              <a:rPr lang="en-US" sz="1350" dirty="0">
                <a:solidFill>
                  <a:srgbClr val="1B2A33"/>
                </a:solidFill>
                <a:latin typeface="Calibri" pitchFamily="34" charset="0"/>
                <a:ea typeface="Calibri" pitchFamily="34" charset="-122"/>
                <a:cs typeface="Calibri" pitchFamily="34" charset="-120"/>
              </a:rPr>
              <a:t>Before building any fare-prediction model, we need to deeply understand the data: its distributions, relationships, and quirks. The insight gathered here directly shapes feature choices and modeling decisions in Task 2.</a:t>
            </a:r>
            <a:endParaRPr lang="en-US" sz="1350" dirty="0"/>
          </a:p>
        </p:txBody>
      </p:sp>
      <p:sp>
        <p:nvSpPr>
          <p:cNvPr id="6" name="Text 4"/>
          <p:cNvSpPr/>
          <p:nvPr/>
        </p:nvSpPr>
        <p:spPr>
          <a:xfrm>
            <a:off x="548640" y="3017520"/>
            <a:ext cx="5394960" cy="365760"/>
          </a:xfrm>
          <a:prstGeom prst="rect">
            <a:avLst/>
          </a:prstGeom>
          <a:noFill/>
          <a:ln/>
        </p:spPr>
        <p:txBody>
          <a:bodyPr wrap="square"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Key columns used in this analysis</a:t>
            </a:r>
            <a:endParaRPr lang="en-US" sz="1600" dirty="0"/>
          </a:p>
        </p:txBody>
      </p:sp>
      <p:sp>
        <p:nvSpPr>
          <p:cNvPr id="7" name="Shape 5"/>
          <p:cNvSpPr/>
          <p:nvPr/>
        </p:nvSpPr>
        <p:spPr>
          <a:xfrm>
            <a:off x="548640" y="3483864"/>
            <a:ext cx="109728" cy="109728"/>
          </a:xfrm>
          <a:prstGeom prst="ellipse">
            <a:avLst/>
          </a:prstGeom>
          <a:solidFill>
            <a:srgbClr val="1C7293"/>
          </a:solidFill>
          <a:ln/>
        </p:spPr>
      </p:sp>
      <p:sp>
        <p:nvSpPr>
          <p:cNvPr id="8" name="Text 6"/>
          <p:cNvSpPr/>
          <p:nvPr/>
        </p:nvSpPr>
        <p:spPr>
          <a:xfrm>
            <a:off x="777240" y="3337560"/>
            <a:ext cx="5120640" cy="320040"/>
          </a:xfrm>
          <a:prstGeom prst="rect">
            <a:avLst/>
          </a:prstGeom>
          <a:noFill/>
          <a:ln/>
        </p:spPr>
        <p:txBody>
          <a:bodyPr wrap="square" lIns="0" tIns="0" rIns="0" bIns="0" rtlCol="0" anchor="ctr"/>
          <a:lstStyle/>
          <a:p>
            <a:pPr indent="0" marL="0">
              <a:buNone/>
            </a:pPr>
            <a:r>
              <a:rPr lang="en-US" sz="1250" b="1" dirty="0">
                <a:solidFill>
                  <a:srgbClr val="13315C"/>
                </a:solidFill>
                <a:latin typeface="Calibri" pitchFamily="34" charset="0"/>
                <a:ea typeface="Calibri" pitchFamily="34" charset="-122"/>
                <a:cs typeface="Calibri" pitchFamily="34" charset="-120"/>
              </a:rPr>
              <a:t>Fare_Amount  </a:t>
            </a:r>
            <a:pPr indent="0" marL="0">
              <a:buNone/>
            </a:pPr>
            <a:r>
              <a:rPr lang="en-US" sz="1250" dirty="0">
                <a:solidFill>
                  <a:srgbClr val="5B7280"/>
                </a:solidFill>
                <a:latin typeface="Calibri" pitchFamily="34" charset="0"/>
                <a:ea typeface="Calibri" pitchFamily="34" charset="-122"/>
                <a:cs typeface="Calibri" pitchFamily="34" charset="-120"/>
              </a:rPr>
              <a:t>— Target — fare paid in USD</a:t>
            </a:r>
            <a:endParaRPr lang="en-US" sz="1250" dirty="0"/>
          </a:p>
        </p:txBody>
      </p:sp>
      <p:sp>
        <p:nvSpPr>
          <p:cNvPr id="9" name="Shape 7"/>
          <p:cNvSpPr/>
          <p:nvPr/>
        </p:nvSpPr>
        <p:spPr>
          <a:xfrm>
            <a:off x="548640" y="3904488"/>
            <a:ext cx="109728" cy="109728"/>
          </a:xfrm>
          <a:prstGeom prst="ellipse">
            <a:avLst/>
          </a:prstGeom>
          <a:solidFill>
            <a:srgbClr val="1C7293"/>
          </a:solidFill>
          <a:ln/>
        </p:spPr>
      </p:sp>
      <p:sp>
        <p:nvSpPr>
          <p:cNvPr id="10" name="Text 8"/>
          <p:cNvSpPr/>
          <p:nvPr/>
        </p:nvSpPr>
        <p:spPr>
          <a:xfrm>
            <a:off x="777240" y="3758184"/>
            <a:ext cx="5120640" cy="320040"/>
          </a:xfrm>
          <a:prstGeom prst="rect">
            <a:avLst/>
          </a:prstGeom>
          <a:noFill/>
          <a:ln/>
        </p:spPr>
        <p:txBody>
          <a:bodyPr wrap="square" lIns="0" tIns="0" rIns="0" bIns="0" rtlCol="0" anchor="ctr"/>
          <a:lstStyle/>
          <a:p>
            <a:pPr indent="0" marL="0">
              <a:buNone/>
            </a:pPr>
            <a:r>
              <a:rPr lang="en-US" sz="1250" b="1" dirty="0">
                <a:solidFill>
                  <a:srgbClr val="13315C"/>
                </a:solidFill>
                <a:latin typeface="Calibri" pitchFamily="34" charset="0"/>
                <a:ea typeface="Calibri" pitchFamily="34" charset="-122"/>
                <a:cs typeface="Calibri" pitchFamily="34" charset="-120"/>
              </a:rPr>
              <a:t>Distance / JFK_Dist  </a:t>
            </a:r>
            <a:pPr indent="0" marL="0">
              <a:buNone/>
            </a:pPr>
            <a:r>
              <a:rPr lang="en-US" sz="1250" dirty="0">
                <a:solidFill>
                  <a:srgbClr val="5B7280"/>
                </a:solidFill>
                <a:latin typeface="Calibri" pitchFamily="34" charset="0"/>
                <a:ea typeface="Calibri" pitchFamily="34" charset="-122"/>
                <a:cs typeface="Calibri" pitchFamily="34" charset="-120"/>
              </a:rPr>
              <a:t>— Trip length &amp; airport proximity (km)</a:t>
            </a:r>
            <a:endParaRPr lang="en-US" sz="1250" dirty="0"/>
          </a:p>
        </p:txBody>
      </p:sp>
      <p:sp>
        <p:nvSpPr>
          <p:cNvPr id="11" name="Shape 9"/>
          <p:cNvSpPr/>
          <p:nvPr/>
        </p:nvSpPr>
        <p:spPr>
          <a:xfrm>
            <a:off x="548640" y="4325112"/>
            <a:ext cx="109728" cy="109728"/>
          </a:xfrm>
          <a:prstGeom prst="ellipse">
            <a:avLst/>
          </a:prstGeom>
          <a:solidFill>
            <a:srgbClr val="1C7293"/>
          </a:solidFill>
          <a:ln/>
        </p:spPr>
      </p:sp>
      <p:sp>
        <p:nvSpPr>
          <p:cNvPr id="12" name="Text 10"/>
          <p:cNvSpPr/>
          <p:nvPr/>
        </p:nvSpPr>
        <p:spPr>
          <a:xfrm>
            <a:off x="777240" y="4178808"/>
            <a:ext cx="5120640" cy="320040"/>
          </a:xfrm>
          <a:prstGeom prst="rect">
            <a:avLst/>
          </a:prstGeom>
          <a:noFill/>
          <a:ln/>
        </p:spPr>
        <p:txBody>
          <a:bodyPr wrap="square" lIns="0" tIns="0" rIns="0" bIns="0" rtlCol="0" anchor="ctr"/>
          <a:lstStyle/>
          <a:p>
            <a:pPr indent="0" marL="0">
              <a:buNone/>
            </a:pPr>
            <a:r>
              <a:rPr lang="en-US" sz="1250" b="1" dirty="0">
                <a:solidFill>
                  <a:srgbClr val="13315C"/>
                </a:solidFill>
                <a:latin typeface="Calibri" pitchFamily="34" charset="0"/>
                <a:ea typeface="Calibri" pitchFamily="34" charset="-122"/>
                <a:cs typeface="Calibri" pitchFamily="34" charset="-120"/>
              </a:rPr>
              <a:t>Hour / Weekday / Month  </a:t>
            </a:r>
            <a:pPr indent="0" marL="0">
              <a:buNone/>
            </a:pPr>
            <a:r>
              <a:rPr lang="en-US" sz="1250" dirty="0">
                <a:solidFill>
                  <a:srgbClr val="5B7280"/>
                </a:solidFill>
                <a:latin typeface="Calibri" pitchFamily="34" charset="0"/>
                <a:ea typeface="Calibri" pitchFamily="34" charset="-122"/>
                <a:cs typeface="Calibri" pitchFamily="34" charset="-120"/>
              </a:rPr>
              <a:t>— Time-based features</a:t>
            </a:r>
            <a:endParaRPr lang="en-US" sz="1250" dirty="0"/>
          </a:p>
        </p:txBody>
      </p:sp>
      <p:sp>
        <p:nvSpPr>
          <p:cNvPr id="13" name="Shape 11"/>
          <p:cNvSpPr/>
          <p:nvPr/>
        </p:nvSpPr>
        <p:spPr>
          <a:xfrm>
            <a:off x="548640" y="4745736"/>
            <a:ext cx="109728" cy="109728"/>
          </a:xfrm>
          <a:prstGeom prst="ellipse">
            <a:avLst/>
          </a:prstGeom>
          <a:solidFill>
            <a:srgbClr val="1C7293"/>
          </a:solidFill>
          <a:ln/>
        </p:spPr>
      </p:sp>
      <p:sp>
        <p:nvSpPr>
          <p:cNvPr id="14" name="Text 12"/>
          <p:cNvSpPr/>
          <p:nvPr/>
        </p:nvSpPr>
        <p:spPr>
          <a:xfrm>
            <a:off x="777240" y="4599432"/>
            <a:ext cx="5120640" cy="320040"/>
          </a:xfrm>
          <a:prstGeom prst="rect">
            <a:avLst/>
          </a:prstGeom>
          <a:noFill/>
          <a:ln/>
        </p:spPr>
        <p:txBody>
          <a:bodyPr wrap="square" lIns="0" tIns="0" rIns="0" bIns="0" rtlCol="0" anchor="ctr"/>
          <a:lstStyle/>
          <a:p>
            <a:pPr indent="0" marL="0">
              <a:buNone/>
            </a:pPr>
            <a:r>
              <a:rPr lang="en-US" sz="1250" b="1" dirty="0">
                <a:solidFill>
                  <a:srgbClr val="13315C"/>
                </a:solidFill>
                <a:latin typeface="Calibri" pitchFamily="34" charset="0"/>
                <a:ea typeface="Calibri" pitchFamily="34" charset="-122"/>
                <a:cs typeface="Calibri" pitchFamily="34" charset="-120"/>
              </a:rPr>
              <a:t>Weather / Traffic_Conditions  </a:t>
            </a:r>
            <a:pPr indent="0" marL="0">
              <a:buNone/>
            </a:pPr>
            <a:r>
              <a:rPr lang="en-US" sz="1250" dirty="0">
                <a:solidFill>
                  <a:srgbClr val="5B7280"/>
                </a:solidFill>
                <a:latin typeface="Calibri" pitchFamily="34" charset="0"/>
                <a:ea typeface="Calibri" pitchFamily="34" charset="-122"/>
                <a:cs typeface="Calibri" pitchFamily="34" charset="-120"/>
              </a:rPr>
              <a:t>— Categorical context</a:t>
            </a:r>
            <a:endParaRPr lang="en-US" sz="1250" dirty="0"/>
          </a:p>
        </p:txBody>
      </p:sp>
      <p:sp>
        <p:nvSpPr>
          <p:cNvPr id="15" name="Shape 13"/>
          <p:cNvSpPr/>
          <p:nvPr/>
        </p:nvSpPr>
        <p:spPr>
          <a:xfrm>
            <a:off x="548640" y="5166360"/>
            <a:ext cx="109728" cy="109728"/>
          </a:xfrm>
          <a:prstGeom prst="ellipse">
            <a:avLst/>
          </a:prstGeom>
          <a:solidFill>
            <a:srgbClr val="1C7293"/>
          </a:solidFill>
          <a:ln/>
        </p:spPr>
      </p:sp>
      <p:sp>
        <p:nvSpPr>
          <p:cNvPr id="16" name="Text 14"/>
          <p:cNvSpPr/>
          <p:nvPr/>
        </p:nvSpPr>
        <p:spPr>
          <a:xfrm>
            <a:off x="777240" y="5020056"/>
            <a:ext cx="5120640" cy="320040"/>
          </a:xfrm>
          <a:prstGeom prst="rect">
            <a:avLst/>
          </a:prstGeom>
          <a:noFill/>
          <a:ln/>
        </p:spPr>
        <p:txBody>
          <a:bodyPr wrap="square" lIns="0" tIns="0" rIns="0" bIns="0" rtlCol="0" anchor="ctr"/>
          <a:lstStyle/>
          <a:p>
            <a:pPr indent="0" marL="0">
              <a:buNone/>
            </a:pPr>
            <a:r>
              <a:rPr lang="en-US" sz="1250" b="1" dirty="0">
                <a:solidFill>
                  <a:srgbClr val="13315C"/>
                </a:solidFill>
                <a:latin typeface="Calibri" pitchFamily="34" charset="0"/>
                <a:ea typeface="Calibri" pitchFamily="34" charset="-122"/>
                <a:cs typeface="Calibri" pitchFamily="34" charset="-120"/>
              </a:rPr>
              <a:t>Car_Condition / Passenger_Count  </a:t>
            </a:r>
            <a:pPr indent="0" marL="0">
              <a:buNone/>
            </a:pPr>
            <a:r>
              <a:rPr lang="en-US" sz="1250" dirty="0">
                <a:solidFill>
                  <a:srgbClr val="5B7280"/>
                </a:solidFill>
                <a:latin typeface="Calibri" pitchFamily="34" charset="0"/>
                <a:ea typeface="Calibri" pitchFamily="34" charset="-122"/>
                <a:cs typeface="Calibri" pitchFamily="34" charset="-120"/>
              </a:rPr>
              <a:t>— Ride &amp; vehicle attributes</a:t>
            </a:r>
            <a:endParaRPr lang="en-US" sz="1250" dirty="0"/>
          </a:p>
        </p:txBody>
      </p:sp>
      <p:sp>
        <p:nvSpPr>
          <p:cNvPr id="17" name="Shape 15"/>
          <p:cNvSpPr/>
          <p:nvPr/>
        </p:nvSpPr>
        <p:spPr>
          <a:xfrm>
            <a:off x="6309360" y="1325880"/>
            <a:ext cx="5349240" cy="4937760"/>
          </a:xfrm>
          <a:prstGeom prst="rect">
            <a:avLst/>
          </a:prstGeom>
          <a:solidFill>
            <a:srgbClr val="EAF4F4"/>
          </a:solidFill>
          <a:ln/>
          <a:effectLst>
            <a:outerShdw sx="100000" sy="100000" kx="0" ky="0" algn="bl" rotWithShape="0" blurRad="127000" dist="38100" dir="5400000">
              <a:srgbClr val="000000">
                <a:alpha val="10000"/>
              </a:srgbClr>
            </a:outerShdw>
          </a:effectLst>
        </p:spPr>
      </p:sp>
      <p:sp>
        <p:nvSpPr>
          <p:cNvPr id="18" name="Text 16"/>
          <p:cNvSpPr/>
          <p:nvPr/>
        </p:nvSpPr>
        <p:spPr>
          <a:xfrm>
            <a:off x="6583680" y="1508760"/>
            <a:ext cx="4846320" cy="36576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Which Plot Should You Use?</a:t>
            </a:r>
            <a:endParaRPr lang="en-US" sz="1600" dirty="0"/>
          </a:p>
        </p:txBody>
      </p:sp>
      <p:sp>
        <p:nvSpPr>
          <p:cNvPr id="19" name="Text 17"/>
          <p:cNvSpPr/>
          <p:nvPr/>
        </p:nvSpPr>
        <p:spPr>
          <a:xfrm>
            <a:off x="6583680" y="2011680"/>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Histogram / KDE</a:t>
            </a:r>
            <a:endParaRPr lang="en-US" sz="1250" dirty="0"/>
          </a:p>
        </p:txBody>
      </p:sp>
      <p:sp>
        <p:nvSpPr>
          <p:cNvPr id="20" name="Text 18"/>
          <p:cNvSpPr/>
          <p:nvPr/>
        </p:nvSpPr>
        <p:spPr>
          <a:xfrm>
            <a:off x="8503920" y="2011680"/>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Distribution of one numeric variable</a:t>
            </a:r>
            <a:endParaRPr lang="en-US" sz="1100" dirty="0"/>
          </a:p>
        </p:txBody>
      </p:sp>
      <p:sp>
        <p:nvSpPr>
          <p:cNvPr id="21" name="Text 19"/>
          <p:cNvSpPr/>
          <p:nvPr/>
        </p:nvSpPr>
        <p:spPr>
          <a:xfrm>
            <a:off x="6583680" y="2578608"/>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Boxplot</a:t>
            </a:r>
            <a:endParaRPr lang="en-US" sz="1250" dirty="0"/>
          </a:p>
        </p:txBody>
      </p:sp>
      <p:sp>
        <p:nvSpPr>
          <p:cNvPr id="22" name="Text 20"/>
          <p:cNvSpPr/>
          <p:nvPr/>
        </p:nvSpPr>
        <p:spPr>
          <a:xfrm>
            <a:off x="8503920" y="2578608"/>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Distribution + outliers, compare across groups</a:t>
            </a:r>
            <a:endParaRPr lang="en-US" sz="1100" dirty="0"/>
          </a:p>
        </p:txBody>
      </p:sp>
      <p:sp>
        <p:nvSpPr>
          <p:cNvPr id="23" name="Text 21"/>
          <p:cNvSpPr/>
          <p:nvPr/>
        </p:nvSpPr>
        <p:spPr>
          <a:xfrm>
            <a:off x="6583680" y="3145536"/>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Bar / Line Chart</a:t>
            </a:r>
            <a:endParaRPr lang="en-US" sz="1250" dirty="0"/>
          </a:p>
        </p:txBody>
      </p:sp>
      <p:sp>
        <p:nvSpPr>
          <p:cNvPr id="24" name="Text 22"/>
          <p:cNvSpPr/>
          <p:nvPr/>
        </p:nvSpPr>
        <p:spPr>
          <a:xfrm>
            <a:off x="8503920" y="3145536"/>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Compare averages; trends over ordered/time values</a:t>
            </a:r>
            <a:endParaRPr lang="en-US" sz="1100" dirty="0"/>
          </a:p>
        </p:txBody>
      </p:sp>
      <p:sp>
        <p:nvSpPr>
          <p:cNvPr id="25" name="Text 23"/>
          <p:cNvSpPr/>
          <p:nvPr/>
        </p:nvSpPr>
        <p:spPr>
          <a:xfrm>
            <a:off x="6583680" y="3712464"/>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Scatter Plot</a:t>
            </a:r>
            <a:endParaRPr lang="en-US" sz="1250" dirty="0"/>
          </a:p>
        </p:txBody>
      </p:sp>
      <p:sp>
        <p:nvSpPr>
          <p:cNvPr id="26" name="Text 24"/>
          <p:cNvSpPr/>
          <p:nvPr/>
        </p:nvSpPr>
        <p:spPr>
          <a:xfrm>
            <a:off x="8503920" y="3712464"/>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Relationship between two numeric variables</a:t>
            </a:r>
            <a:endParaRPr lang="en-US" sz="1100" dirty="0"/>
          </a:p>
        </p:txBody>
      </p:sp>
      <p:sp>
        <p:nvSpPr>
          <p:cNvPr id="27" name="Text 25"/>
          <p:cNvSpPr/>
          <p:nvPr/>
        </p:nvSpPr>
        <p:spPr>
          <a:xfrm>
            <a:off x="6583680" y="4279392"/>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Heatmap (corr.)</a:t>
            </a:r>
            <a:endParaRPr lang="en-US" sz="1250" dirty="0"/>
          </a:p>
        </p:txBody>
      </p:sp>
      <p:sp>
        <p:nvSpPr>
          <p:cNvPr id="28" name="Text 26"/>
          <p:cNvSpPr/>
          <p:nvPr/>
        </p:nvSpPr>
        <p:spPr>
          <a:xfrm>
            <a:off x="8503920" y="4279392"/>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Correlation across all numeric features</a:t>
            </a:r>
            <a:endParaRPr lang="en-US" sz="1100" dirty="0"/>
          </a:p>
        </p:txBody>
      </p:sp>
      <p:sp>
        <p:nvSpPr>
          <p:cNvPr id="29" name="Text 27"/>
          <p:cNvSpPr/>
          <p:nvPr/>
        </p:nvSpPr>
        <p:spPr>
          <a:xfrm>
            <a:off x="6583680" y="4846320"/>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Count Plot</a:t>
            </a:r>
            <a:endParaRPr lang="en-US" sz="1250" dirty="0"/>
          </a:p>
        </p:txBody>
      </p:sp>
      <p:sp>
        <p:nvSpPr>
          <p:cNvPr id="30" name="Text 28"/>
          <p:cNvSpPr/>
          <p:nvPr/>
        </p:nvSpPr>
        <p:spPr>
          <a:xfrm>
            <a:off x="8503920" y="4846320"/>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Frequency of categories</a:t>
            </a:r>
            <a:endParaRPr lang="en-US" sz="1100" dirty="0"/>
          </a:p>
        </p:txBody>
      </p:sp>
      <p:sp>
        <p:nvSpPr>
          <p:cNvPr id="31" name="Text 29"/>
          <p:cNvSpPr/>
          <p:nvPr/>
        </p:nvSpPr>
        <p:spPr>
          <a:xfrm>
            <a:off x="6583680" y="5413248"/>
            <a:ext cx="1920240" cy="457200"/>
          </a:xfrm>
          <a:prstGeom prst="rect">
            <a:avLst/>
          </a:prstGeom>
          <a:noFill/>
          <a:ln/>
        </p:spPr>
        <p:txBody>
          <a:bodyPr wrap="square" lIns="0" tIns="0" rIns="0" bIns="0" rtlCol="0" anchor="t"/>
          <a:lstStyle/>
          <a:p>
            <a:pPr indent="0" marL="0">
              <a:buNone/>
            </a:pPr>
            <a:r>
              <a:rPr lang="en-US" sz="1250" b="1" dirty="0">
                <a:solidFill>
                  <a:srgbClr val="1C7293"/>
                </a:solidFill>
                <a:latin typeface="Calibri" pitchFamily="34" charset="0"/>
                <a:ea typeface="Calibri" pitchFamily="34" charset="-122"/>
                <a:cs typeface="Calibri" pitchFamily="34" charset="-120"/>
              </a:rPr>
              <a:t>Pair Plot</a:t>
            </a:r>
            <a:endParaRPr lang="en-US" sz="1250" dirty="0"/>
          </a:p>
        </p:txBody>
      </p:sp>
      <p:sp>
        <p:nvSpPr>
          <p:cNvPr id="32" name="Text 30"/>
          <p:cNvSpPr/>
          <p:nvPr/>
        </p:nvSpPr>
        <p:spPr>
          <a:xfrm>
            <a:off x="8503920" y="5413248"/>
            <a:ext cx="3017520" cy="457200"/>
          </a:xfrm>
          <a:prstGeom prst="rect">
            <a:avLst/>
          </a:prstGeom>
          <a:noFill/>
          <a:ln/>
        </p:spPr>
        <p:txBody>
          <a:bodyPr wrap="square" lIns="0" tIns="0" rIns="0" bIns="0" rtlCol="0" anchor="t"/>
          <a:lstStyle/>
          <a:p>
            <a:pPr indent="0" marL="0">
              <a:buNone/>
            </a:pPr>
            <a:r>
              <a:rPr lang="en-US" sz="1100" dirty="0">
                <a:solidFill>
                  <a:srgbClr val="5B7280"/>
                </a:solidFill>
                <a:latin typeface="Calibri" pitchFamily="34" charset="0"/>
                <a:ea typeface="Calibri" pitchFamily="34" charset="-122"/>
                <a:cs typeface="Calibri" pitchFamily="34" charset="-120"/>
              </a:rPr>
              <a:t>Quick overview of many pairwise relationships</a:t>
            </a:r>
            <a:endParaRPr lang="en-US" sz="1100" dirty="0"/>
          </a:p>
        </p:txBody>
      </p:sp>
      <p:sp>
        <p:nvSpPr>
          <p:cNvPr id="33" name="Text 31"/>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02</a:t>
            </a:r>
            <a:endParaRPr lang="en-US" sz="1000" dirty="0"/>
          </a:p>
        </p:txBody>
      </p:sp>
      <p:sp>
        <p:nvSpPr>
          <p:cNvPr id="34" name="Text 32"/>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548640" y="256032"/>
            <a:ext cx="82296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Cleaning Notes</a:t>
            </a:r>
            <a:endParaRPr lang="en-US" sz="2800" dirty="0"/>
          </a:p>
        </p:txBody>
      </p:sp>
      <p:sp>
        <p:nvSpPr>
          <p:cNvPr id="4" name="Shape 2"/>
          <p:cNvSpPr/>
          <p:nvPr/>
        </p:nvSpPr>
        <p:spPr>
          <a:xfrm>
            <a:off x="548640" y="1554480"/>
            <a:ext cx="2697480" cy="2743200"/>
          </a:xfrm>
          <a:prstGeom prst="roundRect">
            <a:avLst>
              <a:gd name="adj" fmla="val 2712"/>
            </a:avLst>
          </a:prstGeom>
          <a:solidFill>
            <a:srgbClr val="EAF4F4"/>
          </a:solidFill>
          <a:ln/>
          <a:effectLst>
            <a:outerShdw sx="100000" sy="100000" kx="0" ky="0" algn="bl" rotWithShape="0" blurRad="101600" dist="25400" dir="5400000">
              <a:srgbClr val="000000">
                <a:alpha val="10000"/>
              </a:srgbClr>
            </a:outerShdw>
          </a:effectLst>
        </p:spPr>
      </p:sp>
      <p:sp>
        <p:nvSpPr>
          <p:cNvPr id="5" name="Shape 3"/>
          <p:cNvSpPr/>
          <p:nvPr/>
        </p:nvSpPr>
        <p:spPr>
          <a:xfrm>
            <a:off x="731520" y="1783080"/>
            <a:ext cx="457200" cy="457200"/>
          </a:xfrm>
          <a:prstGeom prst="ellipse">
            <a:avLst/>
          </a:prstGeom>
          <a:solidFill>
            <a:srgbClr val="1C7293"/>
          </a:solidFill>
          <a:ln/>
        </p:spPr>
      </p:sp>
      <p:sp>
        <p:nvSpPr>
          <p:cNvPr id="6" name="Text 4"/>
          <p:cNvSpPr/>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31520" y="2377440"/>
            <a:ext cx="2331720" cy="365760"/>
          </a:xfrm>
          <a:prstGeom prst="rect">
            <a:avLst/>
          </a:prstGeom>
          <a:noFill/>
          <a:ln/>
        </p:spPr>
        <p:txBody>
          <a:bodyPr wrap="square"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Load</a:t>
            </a:r>
            <a:endParaRPr lang="en-US" sz="1500" dirty="0"/>
          </a:p>
        </p:txBody>
      </p:sp>
      <p:sp>
        <p:nvSpPr>
          <p:cNvPr id="8" name="Text 6"/>
          <p:cNvSpPr/>
          <p:nvPr/>
        </p:nvSpPr>
        <p:spPr>
          <a:xfrm>
            <a:off x="731520" y="2788920"/>
            <a:ext cx="2331720" cy="1371600"/>
          </a:xfrm>
          <a:prstGeom prst="rect">
            <a:avLst/>
          </a:prstGeom>
          <a:noFill/>
          <a:ln/>
        </p:spPr>
        <p:txBody>
          <a:bodyPr wrap="square" rtlCol="0" anchor="t"/>
          <a:lstStyle/>
          <a:p>
            <a:pPr indent="0" marL="0">
              <a:buNone/>
            </a:pPr>
            <a:r>
              <a:rPr lang="en-US" sz="1150" dirty="0">
                <a:solidFill>
                  <a:srgbClr val="5B7280"/>
                </a:solidFill>
                <a:latin typeface="Calibri" pitchFamily="34" charset="0"/>
                <a:ea typeface="Calibri" pitchFamily="34" charset="-122"/>
                <a:cs typeface="Calibri" pitchFamily="34" charset="-120"/>
              </a:rPr>
              <a:t>Read final_internship_data.csv into a DataFrame; inspect shape, dtypes, and summary statistics.</a:t>
            </a:r>
            <a:endParaRPr lang="en-US" sz="1150" dirty="0"/>
          </a:p>
        </p:txBody>
      </p:sp>
      <p:sp>
        <p:nvSpPr>
          <p:cNvPr id="9" name="Shape 7"/>
          <p:cNvSpPr/>
          <p:nvPr/>
        </p:nvSpPr>
        <p:spPr>
          <a:xfrm>
            <a:off x="3429000" y="1554480"/>
            <a:ext cx="2697480" cy="2743200"/>
          </a:xfrm>
          <a:prstGeom prst="roundRect">
            <a:avLst>
              <a:gd name="adj" fmla="val 2712"/>
            </a:avLst>
          </a:prstGeom>
          <a:solidFill>
            <a:srgbClr val="EAF4F4"/>
          </a:solidFill>
          <a:ln/>
          <a:effectLst>
            <a:outerShdw sx="100000" sy="100000" kx="0" ky="0" algn="bl" rotWithShape="0" blurRad="101600" dist="25400" dir="5400000">
              <a:srgbClr val="000000">
                <a:alpha val="10000"/>
              </a:srgbClr>
            </a:outerShdw>
          </a:effectLst>
        </p:spPr>
      </p:sp>
      <p:sp>
        <p:nvSpPr>
          <p:cNvPr id="10" name="Shape 8"/>
          <p:cNvSpPr/>
          <p:nvPr/>
        </p:nvSpPr>
        <p:spPr>
          <a:xfrm>
            <a:off x="3611880" y="1783080"/>
            <a:ext cx="457200" cy="457200"/>
          </a:xfrm>
          <a:prstGeom prst="ellipse">
            <a:avLst/>
          </a:prstGeom>
          <a:solidFill>
            <a:srgbClr val="1C7293"/>
          </a:solidFill>
          <a:ln/>
        </p:spPr>
      </p:sp>
      <p:sp>
        <p:nvSpPr>
          <p:cNvPr id="11" name="Text 9"/>
          <p:cNvSpPr/>
          <p:nvPr/>
        </p:nvSpPr>
        <p:spPr>
          <a:xfrm>
            <a:off x="361188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611880" y="2377440"/>
            <a:ext cx="2331720" cy="365760"/>
          </a:xfrm>
          <a:prstGeom prst="rect">
            <a:avLst/>
          </a:prstGeom>
          <a:noFill/>
          <a:ln/>
        </p:spPr>
        <p:txBody>
          <a:bodyPr wrap="square"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Nulls</a:t>
            </a:r>
            <a:endParaRPr lang="en-US" sz="1500" dirty="0"/>
          </a:p>
        </p:txBody>
      </p:sp>
      <p:sp>
        <p:nvSpPr>
          <p:cNvPr id="13" name="Text 11"/>
          <p:cNvSpPr/>
          <p:nvPr/>
        </p:nvSpPr>
        <p:spPr>
          <a:xfrm>
            <a:off x="3611880" y="2788920"/>
            <a:ext cx="2331720" cy="1371600"/>
          </a:xfrm>
          <a:prstGeom prst="rect">
            <a:avLst/>
          </a:prstGeom>
          <a:noFill/>
          <a:ln/>
        </p:spPr>
        <p:txBody>
          <a:bodyPr wrap="square" rtlCol="0" anchor="t"/>
          <a:lstStyle/>
          <a:p>
            <a:pPr indent="0" marL="0">
              <a:buNone/>
            </a:pPr>
            <a:r>
              <a:rPr lang="en-US" sz="1150" dirty="0">
                <a:solidFill>
                  <a:srgbClr val="5B7280"/>
                </a:solidFill>
                <a:latin typeface="Calibri" pitchFamily="34" charset="0"/>
                <a:ea typeface="Calibri" pitchFamily="34" charset="-122"/>
                <a:cs typeface="Calibri" pitchFamily="34" charset="-120"/>
              </a:rPr>
              <a:t>Checked df.isnull().sum() and dropped incomplete rows with dropna() so every plot reflects complete records.</a:t>
            </a:r>
            <a:endParaRPr lang="en-US" sz="1150" dirty="0"/>
          </a:p>
        </p:txBody>
      </p:sp>
      <p:sp>
        <p:nvSpPr>
          <p:cNvPr id="14" name="Shape 12"/>
          <p:cNvSpPr/>
          <p:nvPr/>
        </p:nvSpPr>
        <p:spPr>
          <a:xfrm>
            <a:off x="6309360" y="1554480"/>
            <a:ext cx="2697480" cy="2743200"/>
          </a:xfrm>
          <a:prstGeom prst="roundRect">
            <a:avLst>
              <a:gd name="adj" fmla="val 2712"/>
            </a:avLst>
          </a:prstGeom>
          <a:solidFill>
            <a:srgbClr val="EAF4F4"/>
          </a:solidFill>
          <a:ln/>
          <a:effectLst>
            <a:outerShdw sx="100000" sy="100000" kx="0" ky="0" algn="bl" rotWithShape="0" blurRad="101600" dist="25400" dir="5400000">
              <a:srgbClr val="000000">
                <a:alpha val="10000"/>
              </a:srgbClr>
            </a:outerShdw>
          </a:effectLst>
        </p:spPr>
      </p:sp>
      <p:sp>
        <p:nvSpPr>
          <p:cNvPr id="15" name="Shape 13"/>
          <p:cNvSpPr/>
          <p:nvPr/>
        </p:nvSpPr>
        <p:spPr>
          <a:xfrm>
            <a:off x="6492240" y="1783080"/>
            <a:ext cx="457200" cy="457200"/>
          </a:xfrm>
          <a:prstGeom prst="ellipse">
            <a:avLst/>
          </a:prstGeom>
          <a:solidFill>
            <a:srgbClr val="1C7293"/>
          </a:solidFill>
          <a:ln/>
        </p:spPr>
      </p:sp>
      <p:sp>
        <p:nvSpPr>
          <p:cNvPr id="16" name="Text 14"/>
          <p:cNvSpPr/>
          <p:nvPr/>
        </p:nvSpPr>
        <p:spPr>
          <a:xfrm>
            <a:off x="649224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492240" y="2377440"/>
            <a:ext cx="2331720" cy="365760"/>
          </a:xfrm>
          <a:prstGeom prst="rect">
            <a:avLst/>
          </a:prstGeom>
          <a:noFill/>
          <a:ln/>
        </p:spPr>
        <p:txBody>
          <a:bodyPr wrap="square"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Drop IDs</a:t>
            </a:r>
            <a:endParaRPr lang="en-US" sz="1500" dirty="0"/>
          </a:p>
        </p:txBody>
      </p:sp>
      <p:sp>
        <p:nvSpPr>
          <p:cNvPr id="18" name="Text 16"/>
          <p:cNvSpPr/>
          <p:nvPr/>
        </p:nvSpPr>
        <p:spPr>
          <a:xfrm>
            <a:off x="6492240" y="2788920"/>
            <a:ext cx="2331720" cy="1371600"/>
          </a:xfrm>
          <a:prstGeom prst="rect">
            <a:avLst/>
          </a:prstGeom>
          <a:noFill/>
          <a:ln/>
        </p:spPr>
        <p:txBody>
          <a:bodyPr wrap="square" rtlCol="0" anchor="t"/>
          <a:lstStyle/>
          <a:p>
            <a:pPr indent="0" marL="0">
              <a:buNone/>
            </a:pPr>
            <a:r>
              <a:rPr lang="en-US" sz="1150" dirty="0">
                <a:solidFill>
                  <a:srgbClr val="5B7280"/>
                </a:solidFill>
                <a:latin typeface="Calibri" pitchFamily="34" charset="0"/>
                <a:ea typeface="Calibri" pitchFamily="34" charset="-122"/>
                <a:cs typeface="Calibri" pitchFamily="34" charset="-120"/>
              </a:rPr>
              <a:t>Removed User ID, User Name, Driver Name, and key — identifiers with no predictive value.</a:t>
            </a:r>
            <a:endParaRPr lang="en-US" sz="1150" dirty="0"/>
          </a:p>
        </p:txBody>
      </p:sp>
      <p:sp>
        <p:nvSpPr>
          <p:cNvPr id="19" name="Shape 17"/>
          <p:cNvSpPr/>
          <p:nvPr/>
        </p:nvSpPr>
        <p:spPr>
          <a:xfrm>
            <a:off x="9189720" y="1554480"/>
            <a:ext cx="2697480" cy="2743200"/>
          </a:xfrm>
          <a:prstGeom prst="roundRect">
            <a:avLst>
              <a:gd name="adj" fmla="val 2712"/>
            </a:avLst>
          </a:prstGeom>
          <a:solidFill>
            <a:srgbClr val="EAF4F4"/>
          </a:solidFill>
          <a:ln/>
          <a:effectLst>
            <a:outerShdw sx="100000" sy="100000" kx="0" ky="0" algn="bl" rotWithShape="0" blurRad="101600" dist="25400" dir="5400000">
              <a:srgbClr val="000000">
                <a:alpha val="10000"/>
              </a:srgbClr>
            </a:outerShdw>
          </a:effectLst>
        </p:spPr>
      </p:sp>
      <p:sp>
        <p:nvSpPr>
          <p:cNvPr id="20" name="Shape 18"/>
          <p:cNvSpPr/>
          <p:nvPr/>
        </p:nvSpPr>
        <p:spPr>
          <a:xfrm>
            <a:off x="9372600" y="1783080"/>
            <a:ext cx="457200" cy="457200"/>
          </a:xfrm>
          <a:prstGeom prst="ellipse">
            <a:avLst/>
          </a:prstGeom>
          <a:solidFill>
            <a:srgbClr val="1C7293"/>
          </a:solidFill>
          <a:ln/>
        </p:spPr>
      </p:sp>
      <p:sp>
        <p:nvSpPr>
          <p:cNvPr id="21" name="Text 19"/>
          <p:cNvSpPr/>
          <p:nvPr/>
        </p:nvSpPr>
        <p:spPr>
          <a:xfrm>
            <a:off x="937260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372600" y="2377440"/>
            <a:ext cx="2331720" cy="365760"/>
          </a:xfrm>
          <a:prstGeom prst="rect">
            <a:avLst/>
          </a:prstGeom>
          <a:noFill/>
          <a:ln/>
        </p:spPr>
        <p:txBody>
          <a:bodyPr wrap="square"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Datetime</a:t>
            </a:r>
            <a:endParaRPr lang="en-US" sz="1500" dirty="0"/>
          </a:p>
        </p:txBody>
      </p:sp>
      <p:sp>
        <p:nvSpPr>
          <p:cNvPr id="23" name="Text 21"/>
          <p:cNvSpPr/>
          <p:nvPr/>
        </p:nvSpPr>
        <p:spPr>
          <a:xfrm>
            <a:off x="9372600" y="2788920"/>
            <a:ext cx="2331720" cy="1371600"/>
          </a:xfrm>
          <a:prstGeom prst="rect">
            <a:avLst/>
          </a:prstGeom>
          <a:noFill/>
          <a:ln/>
        </p:spPr>
        <p:txBody>
          <a:bodyPr wrap="square" rtlCol="0" anchor="t"/>
          <a:lstStyle/>
          <a:p>
            <a:pPr indent="0" marL="0">
              <a:buNone/>
            </a:pPr>
            <a:r>
              <a:rPr lang="en-US" sz="1150" dirty="0">
                <a:solidFill>
                  <a:srgbClr val="5B7280"/>
                </a:solidFill>
                <a:latin typeface="Calibri" pitchFamily="34" charset="0"/>
                <a:ea typeface="Calibri" pitchFamily="34" charset="-122"/>
                <a:cs typeface="Calibri" pitchFamily="34" charset="-120"/>
              </a:rPr>
              <a:t>Converted pickup_datetime to a proper datetime type to enable hour / weekday / month grouping.</a:t>
            </a:r>
            <a:endParaRPr lang="en-US" sz="1150" dirty="0"/>
          </a:p>
        </p:txBody>
      </p:sp>
      <p:sp>
        <p:nvSpPr>
          <p:cNvPr id="24" name="Text 22"/>
          <p:cNvSpPr/>
          <p:nvPr/>
        </p:nvSpPr>
        <p:spPr>
          <a:xfrm>
            <a:off x="548640" y="4526280"/>
            <a:ext cx="10515600" cy="45720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Result: a clean, fully-typed DataFrame ready for question-driven visual exploration.</a:t>
            </a:r>
            <a:endParaRPr lang="en-US" sz="1300" dirty="0"/>
          </a:p>
        </p:txBody>
      </p:sp>
      <p:sp>
        <p:nvSpPr>
          <p:cNvPr id="25" name="Text 23"/>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03</a:t>
            </a:r>
            <a:endParaRPr lang="en-US" sz="1000" dirty="0"/>
          </a:p>
        </p:txBody>
      </p:sp>
      <p:sp>
        <p:nvSpPr>
          <p:cNvPr id="26" name="Text 24"/>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Q1</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Does a higher passenger count lead to a higher fare?</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Passenger_Count (numerical)  vs.  Fare_Amount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Scatter 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Reveals whether points cluster or trend together — the clearest way to see a relationship between two numeric variables.</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Fares are scattered across nearly all passenger counts with no visible upward trend. Passenger count alone does not drive fare — group size is not a strong price signal, likely because Uber pricing is distance/time based rather than per-seat.</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1_0.png">    </p:cNvPr>
          <p:cNvPicPr>
            <a:picLocks noChangeAspect="1"/>
          </p:cNvPicPr>
          <p:nvPr/>
        </p:nvPicPr>
        <p:blipFill>
          <a:blip r:embed="rId1"/>
          <a:stretch>
            <a:fillRect/>
          </a:stretch>
        </p:blipFill>
        <p:spPr>
          <a:xfrm>
            <a:off x="6309360" y="1963714"/>
            <a:ext cx="5212080" cy="3524933"/>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04</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Q2</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Does car condition influence the fare amount?</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Car_Condition (categorical: Good / Bad)  vs.  Fare_Amount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Boxplot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Shows median, spread, and outliers per category — ideal for comparing a numeric distribution across groups.</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Median fares and interquartile ranges are nearly identical for Good vs. Bad car condition, both with a long tail of high-fare outliers. Car condition appears unrelated to what a rider pays — fares are driven by trip factors, not vehicle quality.</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2_1.png">    </p:cNvPr>
          <p:cNvPicPr>
            <a:picLocks noChangeAspect="1"/>
          </p:cNvPicPr>
          <p:nvPr/>
        </p:nvPicPr>
        <p:blipFill>
          <a:blip r:embed="rId1"/>
          <a:stretch>
            <a:fillRect/>
          </a:stretch>
        </p:blipFill>
        <p:spPr>
          <a:xfrm>
            <a:off x="6309360" y="2039033"/>
            <a:ext cx="5212080" cy="3374295"/>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05</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Q3</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At what hour of the day are fares typically highest?</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Hour (0–23, ordered)  vs.  average Fare_Amount</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Line 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Hour is ordered/sequential data — a line connects consecutive hours and makes the trend across the day easy to read.</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Average fare is elevated in the early morning hours (around midnight–5 AM) and dips during the mid-morning, then stays relatively flat through the afternoon and evening. Late-night/early-morning trips trend toward higher fares, possibly longer airport or cross-town rides.</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3_1.png">    </p:cNvPr>
          <p:cNvPicPr>
            <a:picLocks noChangeAspect="1"/>
          </p:cNvPicPr>
          <p:nvPr/>
        </p:nvPicPr>
        <p:blipFill>
          <a:blip r:embed="rId1"/>
          <a:stretch>
            <a:fillRect/>
          </a:stretch>
        </p:blipFill>
        <p:spPr>
          <a:xfrm>
            <a:off x="6309360" y="1970532"/>
            <a:ext cx="5212080" cy="3511296"/>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06</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Q4</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Does traffic condition affect the trip fare?</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Traffic_Conditions (categorical: Normal / Heavy)  vs.  Fare_Amount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Boxplot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Compares the fare distribution (median + spread + outliers) between the two traffic categories directly.</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Both Normal and Heavy traffic show almost the same median fare and box spread, with outliers reaching similarly high values. Traffic level by itself doesn't shift the fare much in this dataset — distance and time-of-day likely matter more.</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4_1.png">    </p:cNvPr>
          <p:cNvPicPr>
            <a:picLocks noChangeAspect="1"/>
          </p:cNvPicPr>
          <p:nvPr/>
        </p:nvPicPr>
        <p:blipFill>
          <a:blip r:embed="rId1"/>
          <a:stretch>
            <a:fillRect/>
          </a:stretch>
        </p:blipFill>
        <p:spPr>
          <a:xfrm>
            <a:off x="6309360" y="2039033"/>
            <a:ext cx="5212080" cy="3374295"/>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07</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Q5</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Is trip distance the strongest predictor of the fare amount?</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Distance (km, numerical)  vs.  Fare_Amount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Scatter 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The direct way to test whether two numeric variables move together and whether that relationship looks linear.</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A clear positive relationship emerges: fares rise as distance increases, with a fairly tight, near-linear trend at lower distances and more spread (plus a few extreme outliers) at higher distances. Distance looks like the strongest single driver of fare seen so far — a key feature for Task 2 modeling.</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5_1.png">    </p:cNvPr>
          <p:cNvPicPr>
            <a:picLocks noChangeAspect="1"/>
          </p:cNvPicPr>
          <p:nvPr/>
        </p:nvPicPr>
        <p:blipFill>
          <a:blip r:embed="rId1"/>
          <a:stretch>
            <a:fillRect/>
          </a:stretch>
        </p:blipFill>
        <p:spPr>
          <a:xfrm>
            <a:off x="6309360" y="2039033"/>
            <a:ext cx="5212080" cy="3374295"/>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08</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Q6</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At what time of day are ride requests most frequent?</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Hour (0–23, discrete)  vs.  ride count / frequency</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Count 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Counts categorical/discrete frequencies directly — answers 'how many', not 'how much', so it's distinct from the fare-by-hour question.</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Ride volume is lowest in the very early morning and climbs steadily through the day, peaking in the afternoon/evening commute and evening-out hours. Demand and price don't peak at the same hours — useful context for separating demand patterns from pricing patterns.</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6_1.png">    </p:cNvPr>
          <p:cNvPicPr>
            <a:picLocks noChangeAspect="1"/>
          </p:cNvPicPr>
          <p:nvPr/>
        </p:nvPicPr>
        <p:blipFill>
          <a:blip r:embed="rId1"/>
          <a:stretch>
            <a:fillRect/>
          </a:stretch>
        </p:blipFill>
        <p:spPr>
          <a:xfrm>
            <a:off x="6309360" y="2077160"/>
            <a:ext cx="5212080" cy="3298039"/>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09</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Q7</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Does weather condition influence the average trip distance?</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Weather (categorical: Sunny / Windy / Winter)  vs.  Distance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Boxplot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Compares the distance distribution across weather categories, including medians and outlier trips.</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Trip distance distributions look broadly similar across Sunny, Windy, and Winter conditions, each with a comparable median and a spread of longer outlier trips. Weather doesn't appear to change how far people travel — riders take similar trip lengths regardless of conditions.</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7_1.png">    </p:cNvPr>
          <p:cNvPicPr>
            <a:picLocks noChangeAspect="1"/>
          </p:cNvPicPr>
          <p:nvPr/>
        </p:nvPicPr>
        <p:blipFill>
          <a:blip r:embed="rId1"/>
          <a:stretch>
            <a:fillRect/>
          </a:stretch>
        </p:blipFill>
        <p:spPr>
          <a:xfrm>
            <a:off x="6309360" y="2077160"/>
            <a:ext cx="5212080" cy="3298039"/>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10</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64592"/>
            <a:ext cx="100584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Q8</a:t>
            </a:r>
            <a:endParaRPr lang="en-US" sz="3000" dirty="0"/>
          </a:p>
        </p:txBody>
      </p:sp>
      <p:sp>
        <p:nvSpPr>
          <p:cNvPr id="4" name="Text 2"/>
          <p:cNvSpPr/>
          <p:nvPr/>
        </p:nvSpPr>
        <p:spPr>
          <a:xfrm>
            <a:off x="1554480" y="164592"/>
            <a:ext cx="9966960" cy="6400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Are rides that start closer to airports generally more expensive?</a:t>
            </a:r>
            <a:endParaRPr lang="en-US" sz="2000" dirty="0"/>
          </a:p>
        </p:txBody>
      </p:sp>
      <p:sp>
        <p:nvSpPr>
          <p:cNvPr id="5" name="Text 3"/>
          <p:cNvSpPr/>
          <p:nvPr/>
        </p:nvSpPr>
        <p:spPr>
          <a:xfrm>
            <a:off x="548640" y="1234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VARIABLES</a:t>
            </a:r>
            <a:endParaRPr lang="en-US" sz="1100" dirty="0"/>
          </a:p>
        </p:txBody>
      </p:sp>
      <p:sp>
        <p:nvSpPr>
          <p:cNvPr id="6" name="Text 4"/>
          <p:cNvSpPr/>
          <p:nvPr/>
        </p:nvSpPr>
        <p:spPr>
          <a:xfrm>
            <a:off x="548640" y="1508760"/>
            <a:ext cx="5029200" cy="685800"/>
          </a:xfrm>
          <a:prstGeom prst="rect">
            <a:avLst/>
          </a:prstGeom>
          <a:noFill/>
          <a:ln/>
        </p:spPr>
        <p:txBody>
          <a:bodyPr wrap="square" rtlCol="0" anchor="t"/>
          <a:lstStyle/>
          <a:p>
            <a:pPr indent="0" marL="0">
              <a:buNone/>
            </a:pPr>
            <a:r>
              <a:rPr lang="en-US" sz="1250" dirty="0">
                <a:solidFill>
                  <a:srgbClr val="1B2A33"/>
                </a:solidFill>
                <a:latin typeface="Calibri" pitchFamily="34" charset="0"/>
                <a:ea typeface="Calibri" pitchFamily="34" charset="-122"/>
                <a:cs typeface="Calibri" pitchFamily="34" charset="-120"/>
              </a:rPr>
              <a:t>JFK_Dist (km, numerical)  vs.  Fare_Amount (numerical)</a:t>
            </a:r>
            <a:endParaRPr lang="en-US" sz="1250" dirty="0"/>
          </a:p>
        </p:txBody>
      </p:sp>
      <p:sp>
        <p:nvSpPr>
          <p:cNvPr id="7" name="Shape 5"/>
          <p:cNvSpPr/>
          <p:nvPr/>
        </p:nvSpPr>
        <p:spPr>
          <a:xfrm>
            <a:off x="548640" y="2286000"/>
            <a:ext cx="5029200" cy="1005840"/>
          </a:xfrm>
          <a:prstGeom prst="roundRect">
            <a:avLst>
              <a:gd name="adj" fmla="val 6364"/>
            </a:avLst>
          </a:prstGeom>
          <a:solidFill>
            <a:srgbClr val="EAF4F4"/>
          </a:solidFill>
          <a:ln/>
        </p:spPr>
      </p:sp>
      <p:sp>
        <p:nvSpPr>
          <p:cNvPr id="8" name="Text 6"/>
          <p:cNvSpPr/>
          <p:nvPr/>
        </p:nvSpPr>
        <p:spPr>
          <a:xfrm>
            <a:off x="777240" y="2395728"/>
            <a:ext cx="4572000" cy="82296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Plot choice:  </a:t>
            </a:r>
            <a:pPr indent="0" marL="0">
              <a:buNone/>
            </a:pPr>
            <a:r>
              <a:rPr lang="en-US" sz="1300" b="1" dirty="0">
                <a:solidFill>
                  <a:srgbClr val="1C7293"/>
                </a:solidFill>
                <a:latin typeface="Calibri" pitchFamily="34" charset="0"/>
                <a:ea typeface="Calibri" pitchFamily="34" charset="-122"/>
                <a:cs typeface="Calibri" pitchFamily="34" charset="-120"/>
              </a:rPr>
              <a:t>Scatter Plot</a:t>
            </a:r>
            <a:endParaRPr lang="en-US" sz="1300" dirty="0"/>
          </a:p>
          <a:p>
            <a:pPr indent="0" marL="0">
              <a:buNone/>
            </a:pPr>
            <a:r>
              <a:rPr lang="en-US" sz="1100" dirty="0">
                <a:solidFill>
                  <a:srgbClr val="5B7280"/>
                </a:solidFill>
                <a:latin typeface="Calibri" pitchFamily="34" charset="0"/>
                <a:ea typeface="Calibri" pitchFamily="34" charset="-122"/>
                <a:cs typeface="Calibri" pitchFamily="34" charset="-120"/>
              </a:rPr>
              <a:t>Tests the relationship between a numeric distance-to-landmark feature and fare directly.</a:t>
            </a:r>
            <a:endParaRPr lang="en-US" sz="1300" dirty="0"/>
          </a:p>
        </p:txBody>
      </p:sp>
      <p:sp>
        <p:nvSpPr>
          <p:cNvPr id="9" name="Text 7"/>
          <p:cNvSpPr/>
          <p:nvPr/>
        </p:nvSpPr>
        <p:spPr>
          <a:xfrm>
            <a:off x="548640" y="3520440"/>
            <a:ext cx="5029200" cy="27432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INSIGHT</a:t>
            </a:r>
            <a:endParaRPr lang="en-US" sz="1100" dirty="0"/>
          </a:p>
        </p:txBody>
      </p:sp>
      <p:sp>
        <p:nvSpPr>
          <p:cNvPr id="10" name="Text 8"/>
          <p:cNvSpPr/>
          <p:nvPr/>
        </p:nvSpPr>
        <p:spPr>
          <a:xfrm>
            <a:off x="548640" y="3794760"/>
            <a:ext cx="5029200" cy="24688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Most points cluster at low JFK distance with fares spread across a wide range, plus a distinct band of high-fare trips at larger JFK distances. This hints at flat-rate/long-haul airport trips rather than a simple linear relationship — worth engineering as a separate airport-trip flag in modeling.</a:t>
            </a:r>
            <a:endParaRPr lang="en-US" sz="1300" dirty="0"/>
          </a:p>
        </p:txBody>
      </p:sp>
      <p:sp>
        <p:nvSpPr>
          <p:cNvPr id="11" name="Shape 9"/>
          <p:cNvSpPr/>
          <p:nvPr/>
        </p:nvSpPr>
        <p:spPr>
          <a:xfrm>
            <a:off x="6172200" y="1280160"/>
            <a:ext cx="5486400" cy="4892040"/>
          </a:xfrm>
          <a:prstGeom prst="roundRect">
            <a:avLst>
              <a:gd name="adj" fmla="val 112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12" name="Image 0" descr="cell18_1.png">    </p:cNvPr>
          <p:cNvPicPr>
            <a:picLocks noChangeAspect="1"/>
          </p:cNvPicPr>
          <p:nvPr/>
        </p:nvPicPr>
        <p:blipFill>
          <a:blip r:embed="rId1"/>
          <a:stretch>
            <a:fillRect/>
          </a:stretch>
        </p:blipFill>
        <p:spPr>
          <a:xfrm>
            <a:off x="6309360" y="2039033"/>
            <a:ext cx="5212080" cy="3374295"/>
          </a:xfrm>
          <a:prstGeom prst="rect">
            <a:avLst/>
          </a:prstGeom>
        </p:spPr>
      </p:pic>
      <p:sp>
        <p:nvSpPr>
          <p:cNvPr id="13" name="Text 10"/>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11</a:t>
            </a:r>
            <a:endParaRPr lang="en-US" sz="1000" dirty="0"/>
          </a:p>
        </p:txBody>
      </p:sp>
      <p:sp>
        <p:nvSpPr>
          <p:cNvPr id="14" name="Text 11"/>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Extra EDA — Fare Amount: Distribution &amp; Outliers</a:t>
            </a:r>
            <a:endParaRPr lang="en-US" sz="2200" dirty="0"/>
          </a:p>
        </p:txBody>
      </p:sp>
      <p:sp>
        <p:nvSpPr>
          <p:cNvPr id="4" name="Shape 2"/>
          <p:cNvSpPr/>
          <p:nvPr/>
        </p:nvSpPr>
        <p:spPr>
          <a:xfrm>
            <a:off x="54864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5" name="Image 0" descr="cell19_0.png">    </p:cNvPr>
          <p:cNvPicPr>
            <a:picLocks noChangeAspect="1"/>
          </p:cNvPicPr>
          <p:nvPr/>
        </p:nvPicPr>
        <p:blipFill>
          <a:blip r:embed="rId1"/>
          <a:stretch>
            <a:fillRect/>
          </a:stretch>
        </p:blipFill>
        <p:spPr>
          <a:xfrm>
            <a:off x="685800" y="1566693"/>
            <a:ext cx="5120640" cy="3358853"/>
          </a:xfrm>
          <a:prstGeom prst="rect">
            <a:avLst/>
          </a:prstGeom>
        </p:spPr>
      </p:pic>
      <p:sp>
        <p:nvSpPr>
          <p:cNvPr id="6" name="Text 3"/>
          <p:cNvSpPr/>
          <p:nvPr/>
        </p:nvSpPr>
        <p:spPr>
          <a:xfrm>
            <a:off x="54864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Histogram: fares are right-skewed, most trips cluster in the low range with a long tail of expensive rides.</a:t>
            </a:r>
            <a:endParaRPr lang="en-US" sz="1150" dirty="0"/>
          </a:p>
        </p:txBody>
      </p:sp>
      <p:sp>
        <p:nvSpPr>
          <p:cNvPr id="7" name="Shape 4"/>
          <p:cNvSpPr/>
          <p:nvPr/>
        </p:nvSpPr>
        <p:spPr>
          <a:xfrm>
            <a:off x="617220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8" name="Image 1" descr="cell20_0.png">    </p:cNvPr>
          <p:cNvPicPr>
            <a:picLocks noChangeAspect="1"/>
          </p:cNvPicPr>
          <p:nvPr/>
        </p:nvPicPr>
        <p:blipFill>
          <a:blip r:embed="rId2"/>
          <a:stretch>
            <a:fillRect/>
          </a:stretch>
        </p:blipFill>
        <p:spPr>
          <a:xfrm>
            <a:off x="6309360" y="2298002"/>
            <a:ext cx="5120640" cy="1896237"/>
          </a:xfrm>
          <a:prstGeom prst="rect">
            <a:avLst/>
          </a:prstGeom>
        </p:spPr>
      </p:pic>
      <p:sp>
        <p:nvSpPr>
          <p:cNvPr id="9" name="Text 5"/>
          <p:cNvSpPr/>
          <p:nvPr/>
        </p:nvSpPr>
        <p:spPr>
          <a:xfrm>
            <a:off x="617220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Boxplot confirms it: a dense low-fare cluster plus several extreme high-fare outliers to treat before modeling.</a:t>
            </a:r>
            <a:endParaRPr lang="en-US" sz="1150" dirty="0"/>
          </a:p>
        </p:txBody>
      </p:sp>
      <p:sp>
        <p:nvSpPr>
          <p:cNvPr id="10"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12</a:t>
            </a:r>
            <a:endParaRPr lang="en-US" sz="1000" dirty="0"/>
          </a:p>
        </p:txBody>
      </p:sp>
      <p:sp>
        <p:nvSpPr>
          <p:cNvPr id="11"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Extra EDA — Category Frequencies</a:t>
            </a:r>
            <a:endParaRPr lang="en-US" sz="2200" dirty="0"/>
          </a:p>
        </p:txBody>
      </p:sp>
      <p:sp>
        <p:nvSpPr>
          <p:cNvPr id="4" name="Shape 2"/>
          <p:cNvSpPr/>
          <p:nvPr/>
        </p:nvSpPr>
        <p:spPr>
          <a:xfrm>
            <a:off x="54864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5" name="Image 0" descr="cell21_0.png">    </p:cNvPr>
          <p:cNvPicPr>
            <a:picLocks noChangeAspect="1"/>
          </p:cNvPicPr>
          <p:nvPr/>
        </p:nvPicPr>
        <p:blipFill>
          <a:blip r:embed="rId1"/>
          <a:stretch>
            <a:fillRect/>
          </a:stretch>
        </p:blipFill>
        <p:spPr>
          <a:xfrm>
            <a:off x="690685" y="1371600"/>
            <a:ext cx="5110871" cy="3749040"/>
          </a:xfrm>
          <a:prstGeom prst="rect">
            <a:avLst/>
          </a:prstGeom>
        </p:spPr>
      </p:pic>
      <p:sp>
        <p:nvSpPr>
          <p:cNvPr id="6" name="Text 3"/>
          <p:cNvSpPr/>
          <p:nvPr/>
        </p:nvSpPr>
        <p:spPr>
          <a:xfrm>
            <a:off x="54864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Weather: Sunny conditions dominate the trip log, followed by Windy and Winter.</a:t>
            </a:r>
            <a:endParaRPr lang="en-US" sz="1150" dirty="0"/>
          </a:p>
        </p:txBody>
      </p:sp>
      <p:sp>
        <p:nvSpPr>
          <p:cNvPr id="7" name="Shape 4"/>
          <p:cNvSpPr/>
          <p:nvPr/>
        </p:nvSpPr>
        <p:spPr>
          <a:xfrm>
            <a:off x="617220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8" name="Image 1" descr="cell22_0.png">    </p:cNvPr>
          <p:cNvPicPr>
            <a:picLocks noChangeAspect="1"/>
          </p:cNvPicPr>
          <p:nvPr/>
        </p:nvPicPr>
        <p:blipFill>
          <a:blip r:embed="rId2"/>
          <a:stretch>
            <a:fillRect/>
          </a:stretch>
        </p:blipFill>
        <p:spPr>
          <a:xfrm>
            <a:off x="6314245" y="1371600"/>
            <a:ext cx="5110871" cy="3749040"/>
          </a:xfrm>
          <a:prstGeom prst="rect">
            <a:avLst/>
          </a:prstGeom>
        </p:spPr>
      </p:pic>
      <p:sp>
        <p:nvSpPr>
          <p:cNvPr id="9" name="Text 5"/>
          <p:cNvSpPr/>
          <p:nvPr/>
        </p:nvSpPr>
        <p:spPr>
          <a:xfrm>
            <a:off x="617220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Traffic: Normal conditions are far more common in the data than Heavy traffic.</a:t>
            </a:r>
            <a:endParaRPr lang="en-US" sz="1150" dirty="0"/>
          </a:p>
        </p:txBody>
      </p:sp>
      <p:sp>
        <p:nvSpPr>
          <p:cNvPr id="10"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13</a:t>
            </a:r>
            <a:endParaRPr lang="en-US" sz="1000" dirty="0"/>
          </a:p>
        </p:txBody>
      </p:sp>
      <p:sp>
        <p:nvSpPr>
          <p:cNvPr id="11"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Extra EDA — Fare by Weather &amp; Weekday</a:t>
            </a:r>
            <a:endParaRPr lang="en-US" sz="2200" dirty="0"/>
          </a:p>
        </p:txBody>
      </p:sp>
      <p:sp>
        <p:nvSpPr>
          <p:cNvPr id="4" name="Shape 2"/>
          <p:cNvSpPr/>
          <p:nvPr/>
        </p:nvSpPr>
        <p:spPr>
          <a:xfrm>
            <a:off x="54864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5" name="Image 0" descr="cell23_0.png">    </p:cNvPr>
          <p:cNvPicPr>
            <a:picLocks noChangeAspect="1"/>
          </p:cNvPicPr>
          <p:nvPr/>
        </p:nvPicPr>
        <p:blipFill>
          <a:blip r:embed="rId1"/>
          <a:stretch>
            <a:fillRect/>
          </a:stretch>
        </p:blipFill>
        <p:spPr>
          <a:xfrm>
            <a:off x="685800" y="1514574"/>
            <a:ext cx="5120640" cy="3463092"/>
          </a:xfrm>
          <a:prstGeom prst="rect">
            <a:avLst/>
          </a:prstGeom>
        </p:spPr>
      </p:pic>
      <p:sp>
        <p:nvSpPr>
          <p:cNvPr id="6" name="Text 3"/>
          <p:cNvSpPr/>
          <p:nvPr/>
        </p:nvSpPr>
        <p:spPr>
          <a:xfrm>
            <a:off x="54864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Fare by weather: median fares are close across Sunny, Windy and Winter, each with high-fare outliers.</a:t>
            </a:r>
            <a:endParaRPr lang="en-US" sz="1150" dirty="0"/>
          </a:p>
        </p:txBody>
      </p:sp>
      <p:sp>
        <p:nvSpPr>
          <p:cNvPr id="7" name="Shape 4"/>
          <p:cNvSpPr/>
          <p:nvPr/>
        </p:nvSpPr>
        <p:spPr>
          <a:xfrm>
            <a:off x="6172200" y="1234440"/>
            <a:ext cx="5394960" cy="4023360"/>
          </a:xfrm>
          <a:prstGeom prst="roundRect">
            <a:avLst>
              <a:gd name="adj" fmla="val 1364"/>
            </a:avLst>
          </a:prstGeom>
          <a:solidFill>
            <a:srgbClr val="FFFFFF"/>
          </a:solidFill>
          <a:ln w="12700">
            <a:solidFill>
              <a:srgbClr val="DCE6E6"/>
            </a:solidFill>
            <a:prstDash val="solid"/>
          </a:ln>
          <a:effectLst>
            <a:outerShdw sx="100000" sy="100000" kx="0" ky="0" algn="bl" rotWithShape="0" blurRad="101600" dist="25400" dir="5400000">
              <a:srgbClr val="000000">
                <a:alpha val="10000"/>
              </a:srgbClr>
            </a:outerShdw>
          </a:effectLst>
        </p:spPr>
      </p:sp>
      <p:pic>
        <p:nvPicPr>
          <p:cNvPr id="8" name="Image 1" descr="cell24_0.png">    </p:cNvPr>
          <p:cNvPicPr>
            <a:picLocks noChangeAspect="1"/>
          </p:cNvPicPr>
          <p:nvPr/>
        </p:nvPicPr>
        <p:blipFill>
          <a:blip r:embed="rId2"/>
          <a:stretch>
            <a:fillRect/>
          </a:stretch>
        </p:blipFill>
        <p:spPr>
          <a:xfrm>
            <a:off x="6309360" y="1494322"/>
            <a:ext cx="5120640" cy="3503596"/>
          </a:xfrm>
          <a:prstGeom prst="rect">
            <a:avLst/>
          </a:prstGeom>
        </p:spPr>
      </p:pic>
      <p:sp>
        <p:nvSpPr>
          <p:cNvPr id="9" name="Text 5"/>
          <p:cNvSpPr/>
          <p:nvPr/>
        </p:nvSpPr>
        <p:spPr>
          <a:xfrm>
            <a:off x="6172200" y="5330952"/>
            <a:ext cx="5394960" cy="685800"/>
          </a:xfrm>
          <a:prstGeom prst="rect">
            <a:avLst/>
          </a:prstGeom>
          <a:noFill/>
          <a:ln/>
        </p:spPr>
        <p:txBody>
          <a:bodyPr wrap="square" rtlCol="0" anchor="ctr"/>
          <a:lstStyle/>
          <a:p>
            <a:pPr algn="ctr" indent="0" marL="0">
              <a:buNone/>
            </a:pPr>
            <a:r>
              <a:rPr lang="en-US" sz="1150" dirty="0">
                <a:solidFill>
                  <a:srgbClr val="5B7280"/>
                </a:solidFill>
                <a:latin typeface="Calibri" pitchFamily="34" charset="0"/>
                <a:ea typeface="Calibri" pitchFamily="34" charset="-122"/>
                <a:cs typeface="Calibri" pitchFamily="34" charset="-120"/>
              </a:rPr>
              <a:t>Average fare by weekday is fairly flat — no single day stands out as consistently pricier.</a:t>
            </a:r>
            <a:endParaRPr lang="en-US" sz="1150" dirty="0"/>
          </a:p>
        </p:txBody>
      </p:sp>
      <p:sp>
        <p:nvSpPr>
          <p:cNvPr id="10"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14</a:t>
            </a:r>
            <a:endParaRPr lang="en-US" sz="1000" dirty="0"/>
          </a:p>
        </p:txBody>
      </p:sp>
      <p:sp>
        <p:nvSpPr>
          <p:cNvPr id="11"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Extra EDA — Average Fare by Month</a:t>
            </a:r>
            <a:endParaRPr lang="en-US" sz="2200" dirty="0"/>
          </a:p>
        </p:txBody>
      </p:sp>
      <p:sp>
        <p:nvSpPr>
          <p:cNvPr id="4" name="Text 2"/>
          <p:cNvSpPr/>
          <p:nvPr/>
        </p:nvSpPr>
        <p:spPr>
          <a:xfrm>
            <a:off x="548640" y="1234440"/>
            <a:ext cx="4206240" cy="20116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Grouping fares by month and plotting the average as a line reveals whether pricing shifts seasonally — useful for spotting demand surges (holidays, weather extremes) that a model should account for.</a:t>
            </a:r>
            <a:endParaRPr lang="en-US" sz="1300" dirty="0"/>
          </a:p>
        </p:txBody>
      </p:sp>
      <p:sp>
        <p:nvSpPr>
          <p:cNvPr id="5" name="Shape 3"/>
          <p:cNvSpPr/>
          <p:nvPr/>
        </p:nvSpPr>
        <p:spPr>
          <a:xfrm>
            <a:off x="548640" y="3383280"/>
            <a:ext cx="4206240" cy="1737360"/>
          </a:xfrm>
          <a:prstGeom prst="roundRect">
            <a:avLst>
              <a:gd name="adj" fmla="val 3684"/>
            </a:avLst>
          </a:prstGeom>
          <a:solidFill>
            <a:srgbClr val="EAF4F4"/>
          </a:solidFill>
          <a:ln/>
        </p:spPr>
      </p:sp>
      <p:sp>
        <p:nvSpPr>
          <p:cNvPr id="6" name="Text 4"/>
          <p:cNvSpPr/>
          <p:nvPr/>
        </p:nvSpPr>
        <p:spPr>
          <a:xfrm>
            <a:off x="777240" y="3520440"/>
            <a:ext cx="3749040" cy="1463040"/>
          </a:xfrm>
          <a:prstGeom prst="rect">
            <a:avLst/>
          </a:prstGeom>
          <a:noFill/>
          <a:ln/>
        </p:spPr>
        <p:txBody>
          <a:bodyPr wrap="square" lIns="0" tIns="0" rIns="0" bIns="0" rtlCol="0" anchor="t"/>
          <a:lstStyle/>
          <a:p>
            <a:pPr indent="0" marL="0">
              <a:buNone/>
            </a:pPr>
            <a:r>
              <a:rPr lang="en-US" sz="1200" b="1" dirty="0">
                <a:solidFill>
                  <a:srgbClr val="13315C"/>
                </a:solidFill>
                <a:latin typeface="Calibri" pitchFamily="34" charset="0"/>
                <a:ea typeface="Calibri" pitchFamily="34" charset="-122"/>
                <a:cs typeface="Calibri" pitchFamily="34" charset="-120"/>
              </a:rPr>
              <a:t>Insight:  </a:t>
            </a:r>
            <a:endParaRPr lang="en-US" sz="1200" dirty="0"/>
          </a:p>
          <a:p>
            <a:pPr indent="0" marL="0">
              <a:buNone/>
            </a:pPr>
            <a:r>
              <a:rPr lang="en-US" sz="1200" dirty="0">
                <a:solidFill>
                  <a:srgbClr val="5B7280"/>
                </a:solidFill>
                <a:latin typeface="Calibri" pitchFamily="34" charset="0"/>
                <a:ea typeface="Calibri" pitchFamily="34" charset="-122"/>
                <a:cs typeface="Calibri" pitchFamily="34" charset="-120"/>
              </a:rPr>
              <a:t>Average fares fluctuate month to month without a dramatic single trend, suggesting month alone is a weaker predictor than distance — but still worth keeping as a seasonal feature.</a:t>
            </a:r>
            <a:endParaRPr lang="en-US" sz="1200" dirty="0"/>
          </a:p>
        </p:txBody>
      </p:sp>
      <p:sp>
        <p:nvSpPr>
          <p:cNvPr id="7" name="Shape 5"/>
          <p:cNvSpPr/>
          <p:nvPr/>
        </p:nvSpPr>
        <p:spPr>
          <a:xfrm>
            <a:off x="5120640" y="1234440"/>
            <a:ext cx="6492240" cy="4937760"/>
          </a:xfrm>
          <a:prstGeom prst="roundRect">
            <a:avLst>
              <a:gd name="adj" fmla="val 111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8" name="Image 0" descr="cell25_0.png">    </p:cNvPr>
          <p:cNvPicPr>
            <a:picLocks noChangeAspect="1"/>
          </p:cNvPicPr>
          <p:nvPr/>
        </p:nvPicPr>
        <p:blipFill>
          <a:blip r:embed="rId1"/>
          <a:stretch>
            <a:fillRect/>
          </a:stretch>
        </p:blipFill>
        <p:spPr>
          <a:xfrm>
            <a:off x="5303520" y="1643555"/>
            <a:ext cx="6126480" cy="4119530"/>
          </a:xfrm>
          <a:prstGeom prst="rect">
            <a:avLst/>
          </a:prstGeom>
        </p:spPr>
      </p:pic>
      <p:sp>
        <p:nvSpPr>
          <p:cNvPr id="9"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15</a:t>
            </a:r>
            <a:endParaRPr lang="en-US" sz="1000" dirty="0"/>
          </a:p>
        </p:txBody>
      </p:sp>
      <p:sp>
        <p:nvSpPr>
          <p:cNvPr id="10"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Which Features Relate Most to Fare?</a:t>
            </a:r>
            <a:endParaRPr lang="en-US" sz="2200" dirty="0"/>
          </a:p>
        </p:txBody>
      </p:sp>
      <p:sp>
        <p:nvSpPr>
          <p:cNvPr id="4" name="Text 2"/>
          <p:cNvSpPr/>
          <p:nvPr/>
        </p:nvSpPr>
        <p:spPr>
          <a:xfrm>
            <a:off x="548640" y="1143000"/>
            <a:ext cx="3840480" cy="128016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A correlation heatmap summarizes linear relationships across every numeric feature at once — the fastest way to scan for the strongest candidate predictors before modeling.</a:t>
            </a:r>
            <a:endParaRPr lang="en-US" sz="1300" dirty="0"/>
          </a:p>
        </p:txBody>
      </p:sp>
      <p:sp>
        <p:nvSpPr>
          <p:cNvPr id="5" name="Shape 3"/>
          <p:cNvSpPr/>
          <p:nvPr/>
        </p:nvSpPr>
        <p:spPr>
          <a:xfrm>
            <a:off x="548640" y="2468880"/>
            <a:ext cx="3840480" cy="2651760"/>
          </a:xfrm>
          <a:prstGeom prst="roundRect">
            <a:avLst>
              <a:gd name="adj" fmla="val 2414"/>
            </a:avLst>
          </a:prstGeom>
          <a:solidFill>
            <a:srgbClr val="EAF4F4"/>
          </a:solidFill>
          <a:ln/>
        </p:spPr>
      </p:sp>
      <p:sp>
        <p:nvSpPr>
          <p:cNvPr id="6" name="Text 4"/>
          <p:cNvSpPr/>
          <p:nvPr/>
        </p:nvSpPr>
        <p:spPr>
          <a:xfrm>
            <a:off x="777240" y="2606040"/>
            <a:ext cx="3383280" cy="2377440"/>
          </a:xfrm>
          <a:prstGeom prst="rect">
            <a:avLst/>
          </a:prstGeom>
          <a:noFill/>
          <a:ln/>
        </p:spPr>
        <p:txBody>
          <a:bodyPr wrap="square" lIns="0" tIns="0" rIns="0" bIns="0" rtlCol="0" anchor="t"/>
          <a:lstStyle/>
          <a:p>
            <a:pPr indent="0" marL="0">
              <a:buNone/>
            </a:pPr>
            <a:r>
              <a:rPr lang="en-US" sz="1150" b="1" dirty="0">
                <a:solidFill>
                  <a:srgbClr val="13315C"/>
                </a:solidFill>
                <a:latin typeface="Calibri" pitchFamily="34" charset="0"/>
                <a:ea typeface="Calibri" pitchFamily="34" charset="-122"/>
                <a:cs typeface="Calibri" pitchFamily="34" charset="-120"/>
              </a:rPr>
              <a:t>Insight:  </a:t>
            </a:r>
            <a:endParaRPr lang="en-US" sz="1150" dirty="0"/>
          </a:p>
          <a:p>
            <a:pPr indent="0" marL="0">
              <a:buNone/>
            </a:pPr>
            <a:r>
              <a:rPr lang="en-US" sz="1150" dirty="0">
                <a:solidFill>
                  <a:srgbClr val="5B7280"/>
                </a:solidFill>
                <a:latin typeface="Calibri" pitchFamily="34" charset="0"/>
                <a:ea typeface="Calibri" pitchFamily="34" charset="-122"/>
                <a:cs typeface="Calibri" pitchFamily="34" charset="-120"/>
              </a:rPr>
              <a:t>Distance and the airport-distance features (JFK/EWR/LGA) show the clearest positive correlation with Fare_Amount, reinforcing Q5 and Q8. Passenger count and calendar features (hour, day, month) correlate weakly with fare — confirming they're secondary, not primary, predictors.</a:t>
            </a:r>
            <a:endParaRPr lang="en-US" sz="1150" dirty="0"/>
          </a:p>
        </p:txBody>
      </p:sp>
      <p:sp>
        <p:nvSpPr>
          <p:cNvPr id="7" name="Shape 5"/>
          <p:cNvSpPr/>
          <p:nvPr/>
        </p:nvSpPr>
        <p:spPr>
          <a:xfrm>
            <a:off x="4663440" y="1143000"/>
            <a:ext cx="6949440" cy="5120640"/>
          </a:xfrm>
          <a:prstGeom prst="roundRect">
            <a:avLst>
              <a:gd name="adj" fmla="val 1071"/>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8" name="Image 0" descr="cell26_0.png">    </p:cNvPr>
          <p:cNvPicPr>
            <a:picLocks noChangeAspect="1"/>
          </p:cNvPicPr>
          <p:nvPr/>
        </p:nvPicPr>
        <p:blipFill>
          <a:blip r:embed="rId1"/>
          <a:stretch>
            <a:fillRect/>
          </a:stretch>
        </p:blipFill>
        <p:spPr>
          <a:xfrm>
            <a:off x="5715000" y="1481491"/>
            <a:ext cx="4846320" cy="4443658"/>
          </a:xfrm>
          <a:prstGeom prst="rect">
            <a:avLst/>
          </a:prstGeom>
        </p:spPr>
      </p:pic>
      <p:sp>
        <p:nvSpPr>
          <p:cNvPr id="9"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16</a:t>
            </a:r>
            <a:endParaRPr lang="en-US" sz="1000" dirty="0"/>
          </a:p>
        </p:txBody>
      </p:sp>
      <p:sp>
        <p:nvSpPr>
          <p:cNvPr id="10"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2545"/>
          </a:solidFill>
          <a:ln/>
        </p:spPr>
      </p:sp>
      <p:sp>
        <p:nvSpPr>
          <p:cNvPr id="3" name="Text 1"/>
          <p:cNvSpPr/>
          <p:nvPr/>
        </p:nvSpPr>
        <p:spPr>
          <a:xfrm>
            <a:off x="548640" y="182880"/>
            <a:ext cx="100584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Quick Overview — Pairwise Relationships</a:t>
            </a:r>
            <a:endParaRPr lang="en-US" sz="2200" dirty="0"/>
          </a:p>
        </p:txBody>
      </p:sp>
      <p:sp>
        <p:nvSpPr>
          <p:cNvPr id="4" name="Text 2"/>
          <p:cNvSpPr/>
          <p:nvPr/>
        </p:nvSpPr>
        <p:spPr>
          <a:xfrm>
            <a:off x="548640" y="1143000"/>
            <a:ext cx="3566160" cy="1554480"/>
          </a:xfrm>
          <a:prstGeom prst="rect">
            <a:avLst/>
          </a:prstGeom>
          <a:noFill/>
          <a:ln/>
        </p:spPr>
        <p:txBody>
          <a:bodyPr wrap="square" rtlCol="0" anchor="t"/>
          <a:lstStyle/>
          <a:p>
            <a:pPr indent="0" marL="0">
              <a:buNone/>
            </a:pPr>
            <a:r>
              <a:rPr lang="en-US" sz="1300" dirty="0">
                <a:solidFill>
                  <a:srgbClr val="1B2A33"/>
                </a:solidFill>
                <a:latin typeface="Calibri" pitchFamily="34" charset="0"/>
                <a:ea typeface="Calibri" pitchFamily="34" charset="-122"/>
                <a:cs typeface="Calibri" pitchFamily="34" charset="-120"/>
              </a:rPr>
              <a:t>A pair plot of Fare_Amount, Distance, Passenger_Count, Hour, and JFK_Dist gives a single-view scan of every pairwise relationship and each variable's own distribution along the diagonal.</a:t>
            </a:r>
            <a:endParaRPr lang="en-US" sz="1300" dirty="0"/>
          </a:p>
        </p:txBody>
      </p:sp>
      <p:sp>
        <p:nvSpPr>
          <p:cNvPr id="5" name="Shape 3"/>
          <p:cNvSpPr/>
          <p:nvPr/>
        </p:nvSpPr>
        <p:spPr>
          <a:xfrm>
            <a:off x="548640" y="2788920"/>
            <a:ext cx="3566160" cy="2331720"/>
          </a:xfrm>
          <a:prstGeom prst="roundRect">
            <a:avLst>
              <a:gd name="adj" fmla="val 2745"/>
            </a:avLst>
          </a:prstGeom>
          <a:solidFill>
            <a:srgbClr val="EAF4F4"/>
          </a:solidFill>
          <a:ln/>
        </p:spPr>
      </p:sp>
      <p:sp>
        <p:nvSpPr>
          <p:cNvPr id="6" name="Text 4"/>
          <p:cNvSpPr/>
          <p:nvPr/>
        </p:nvSpPr>
        <p:spPr>
          <a:xfrm>
            <a:off x="777240" y="2926080"/>
            <a:ext cx="3108960" cy="2103120"/>
          </a:xfrm>
          <a:prstGeom prst="rect">
            <a:avLst/>
          </a:prstGeom>
          <a:noFill/>
          <a:ln/>
        </p:spPr>
        <p:txBody>
          <a:bodyPr wrap="square" lIns="0" tIns="0" rIns="0" bIns="0" rtlCol="0" anchor="t"/>
          <a:lstStyle/>
          <a:p>
            <a:pPr indent="0" marL="0">
              <a:buNone/>
            </a:pPr>
            <a:r>
              <a:rPr lang="en-US" sz="1150" b="1" dirty="0">
                <a:solidFill>
                  <a:srgbClr val="13315C"/>
                </a:solidFill>
                <a:latin typeface="Calibri" pitchFamily="34" charset="0"/>
                <a:ea typeface="Calibri" pitchFamily="34" charset="-122"/>
                <a:cs typeface="Calibri" pitchFamily="34" charset="-120"/>
              </a:rPr>
              <a:t>Insight:  </a:t>
            </a:r>
            <a:endParaRPr lang="en-US" sz="1150" dirty="0"/>
          </a:p>
          <a:p>
            <a:pPr indent="0" marL="0">
              <a:buNone/>
            </a:pPr>
            <a:r>
              <a:rPr lang="en-US" sz="1150" dirty="0">
                <a:solidFill>
                  <a:srgbClr val="5B7280"/>
                </a:solidFill>
                <a:latin typeface="Calibri" pitchFamily="34" charset="0"/>
                <a:ea typeface="Calibri" pitchFamily="34" charset="-122"/>
                <a:cs typeface="Calibri" pitchFamily="34" charset="-120"/>
              </a:rPr>
              <a:t>The Fare_Amount vs. Distance and Fare_Amount vs. JFK_Dist panels show the clearest visible structure, echoing the correlation heatmap. Passenger_Count and Hour panels look diffuse — little pairwise structure with fare.</a:t>
            </a:r>
            <a:endParaRPr lang="en-US" sz="1150" dirty="0"/>
          </a:p>
        </p:txBody>
      </p:sp>
      <p:sp>
        <p:nvSpPr>
          <p:cNvPr id="7" name="Shape 5"/>
          <p:cNvSpPr/>
          <p:nvPr/>
        </p:nvSpPr>
        <p:spPr>
          <a:xfrm>
            <a:off x="4343400" y="1143000"/>
            <a:ext cx="7315200" cy="5486400"/>
          </a:xfrm>
          <a:prstGeom prst="roundRect">
            <a:avLst>
              <a:gd name="adj" fmla="val 1000"/>
            </a:avLst>
          </a:prstGeom>
          <a:solidFill>
            <a:srgbClr val="FFFFFF"/>
          </a:solidFill>
          <a:ln w="12700">
            <a:solidFill>
              <a:srgbClr val="DCE6E6"/>
            </a:solidFill>
            <a:prstDash val="solid"/>
          </a:ln>
          <a:effectLst>
            <a:outerShdw sx="100000" sy="100000" kx="0" ky="0" algn="bl" rotWithShape="0" blurRad="127000" dist="38100" dir="5400000">
              <a:srgbClr val="000000">
                <a:alpha val="12000"/>
              </a:srgbClr>
            </a:outerShdw>
          </a:effectLst>
        </p:spPr>
      </p:sp>
      <p:pic>
        <p:nvPicPr>
          <p:cNvPr id="8" name="Image 0" descr="cell27_0.png">    </p:cNvPr>
          <p:cNvPicPr>
            <a:picLocks noChangeAspect="1"/>
          </p:cNvPicPr>
          <p:nvPr/>
        </p:nvPicPr>
        <p:blipFill>
          <a:blip r:embed="rId1"/>
          <a:stretch>
            <a:fillRect/>
          </a:stretch>
        </p:blipFill>
        <p:spPr>
          <a:xfrm>
            <a:off x="5397077" y="1280160"/>
            <a:ext cx="5207846" cy="5212080"/>
          </a:xfrm>
          <a:prstGeom prst="rect">
            <a:avLst/>
          </a:prstGeom>
        </p:spPr>
      </p:pic>
      <p:sp>
        <p:nvSpPr>
          <p:cNvPr id="9" name="Text 6"/>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17</a:t>
            </a:r>
            <a:endParaRPr lang="en-US" sz="1000" dirty="0"/>
          </a:p>
        </p:txBody>
      </p:sp>
      <p:sp>
        <p:nvSpPr>
          <p:cNvPr id="10" name="Text 7"/>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01200" y="-1645920"/>
            <a:ext cx="4572000" cy="4572000"/>
          </a:xfrm>
          <a:prstGeom prst="ellipse">
            <a:avLst/>
          </a:prstGeom>
          <a:solidFill>
            <a:srgbClr val="1C7293">
              <a:alpha val="20000"/>
            </a:srgbClr>
          </a:solidFill>
          <a:ln/>
        </p:spPr>
      </p:sp>
      <p:sp>
        <p:nvSpPr>
          <p:cNvPr id="3" name="Text 1"/>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Insights</a:t>
            </a:r>
            <a:endParaRPr lang="en-US" sz="3000" dirty="0"/>
          </a:p>
        </p:txBody>
      </p:sp>
      <p:sp>
        <p:nvSpPr>
          <p:cNvPr id="4" name="Text 2"/>
          <p:cNvSpPr/>
          <p:nvPr/>
        </p:nvSpPr>
        <p:spPr>
          <a:xfrm>
            <a:off x="640080" y="1051560"/>
            <a:ext cx="7315200" cy="365760"/>
          </a:xfrm>
          <a:prstGeom prst="rect">
            <a:avLst/>
          </a:prstGeom>
          <a:noFill/>
          <a:ln/>
        </p:spPr>
        <p:txBody>
          <a:bodyPr wrap="square" rtlCol="0" anchor="ctr"/>
          <a:lstStyle/>
          <a:p>
            <a:pPr indent="0" marL="0">
              <a:buNone/>
            </a:pPr>
            <a:r>
              <a:rPr lang="en-US" sz="1400" i="1" dirty="0">
                <a:solidFill>
                  <a:srgbClr val="9FD8CB"/>
                </a:solidFill>
                <a:latin typeface="Calibri" pitchFamily="34" charset="0"/>
                <a:ea typeface="Calibri" pitchFamily="34" charset="-122"/>
                <a:cs typeface="Calibri" pitchFamily="34" charset="-120"/>
              </a:rPr>
              <a:t>What Task 1 tells us before we model</a:t>
            </a:r>
            <a:endParaRPr lang="en-US" sz="1400" dirty="0"/>
          </a:p>
        </p:txBody>
      </p:sp>
      <p:sp>
        <p:nvSpPr>
          <p:cNvPr id="5" name="Shape 3"/>
          <p:cNvSpPr/>
          <p:nvPr/>
        </p:nvSpPr>
        <p:spPr>
          <a:xfrm>
            <a:off x="640080" y="1691640"/>
            <a:ext cx="10881360" cy="1051560"/>
          </a:xfrm>
          <a:prstGeom prst="roundRect">
            <a:avLst>
              <a:gd name="adj" fmla="val 5217"/>
            </a:avLst>
          </a:prstGeom>
          <a:solidFill>
            <a:srgbClr val="13315C"/>
          </a:solidFill>
          <a:ln/>
        </p:spPr>
      </p:sp>
      <p:sp>
        <p:nvSpPr>
          <p:cNvPr id="6" name="Text 4"/>
          <p:cNvSpPr/>
          <p:nvPr/>
        </p:nvSpPr>
        <p:spPr>
          <a:xfrm>
            <a:off x="868680" y="1874520"/>
            <a:ext cx="548640" cy="68580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1554480" y="1801368"/>
            <a:ext cx="97840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Distance drives fare.</a:t>
            </a:r>
            <a:endParaRPr lang="en-US" sz="1500" dirty="0"/>
          </a:p>
        </p:txBody>
      </p:sp>
      <p:sp>
        <p:nvSpPr>
          <p:cNvPr id="8" name="Text 6"/>
          <p:cNvSpPr/>
          <p:nvPr/>
        </p:nvSpPr>
        <p:spPr>
          <a:xfrm>
            <a:off x="1554480" y="2167128"/>
            <a:ext cx="9784080" cy="502920"/>
          </a:xfrm>
          <a:prstGeom prst="rect">
            <a:avLst/>
          </a:prstGeom>
          <a:noFill/>
          <a:ln/>
        </p:spPr>
        <p:txBody>
          <a:bodyPr wrap="square" rtlCol="0" anchor="t"/>
          <a:lstStyle/>
          <a:p>
            <a:pPr indent="0" marL="0">
              <a:buNone/>
            </a:pPr>
            <a:r>
              <a:rPr lang="en-US" sz="1150" dirty="0">
                <a:solidFill>
                  <a:srgbClr val="EAF4F4"/>
                </a:solidFill>
                <a:latin typeface="Calibri" pitchFamily="34" charset="0"/>
                <a:ea typeface="Calibri" pitchFamily="34" charset="-122"/>
                <a:cs typeface="Calibri" pitchFamily="34" charset="-120"/>
              </a:rPr>
              <a:t>Distance and airport-distance features show the strongest, clearest relationship with Fare_Amount — the top candidate predictors for Task 2.</a:t>
            </a:r>
            <a:endParaRPr lang="en-US" sz="1150" dirty="0"/>
          </a:p>
        </p:txBody>
      </p:sp>
      <p:sp>
        <p:nvSpPr>
          <p:cNvPr id="9" name="Shape 7"/>
          <p:cNvSpPr/>
          <p:nvPr/>
        </p:nvSpPr>
        <p:spPr>
          <a:xfrm>
            <a:off x="640080" y="2880360"/>
            <a:ext cx="10881360" cy="1051560"/>
          </a:xfrm>
          <a:prstGeom prst="roundRect">
            <a:avLst>
              <a:gd name="adj" fmla="val 5217"/>
            </a:avLst>
          </a:prstGeom>
          <a:solidFill>
            <a:srgbClr val="13315C"/>
          </a:solidFill>
          <a:ln/>
        </p:spPr>
      </p:sp>
      <p:sp>
        <p:nvSpPr>
          <p:cNvPr id="10" name="Text 8"/>
          <p:cNvSpPr/>
          <p:nvPr/>
        </p:nvSpPr>
        <p:spPr>
          <a:xfrm>
            <a:off x="868680" y="3063240"/>
            <a:ext cx="548640" cy="68580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1554480" y="2990088"/>
            <a:ext cx="97840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Categorical context matters less than expected.</a:t>
            </a:r>
            <a:endParaRPr lang="en-US" sz="1500" dirty="0"/>
          </a:p>
        </p:txBody>
      </p:sp>
      <p:sp>
        <p:nvSpPr>
          <p:cNvPr id="12" name="Text 10"/>
          <p:cNvSpPr/>
          <p:nvPr/>
        </p:nvSpPr>
        <p:spPr>
          <a:xfrm>
            <a:off x="1554480" y="3355848"/>
            <a:ext cx="9784080" cy="502920"/>
          </a:xfrm>
          <a:prstGeom prst="rect">
            <a:avLst/>
          </a:prstGeom>
          <a:noFill/>
          <a:ln/>
        </p:spPr>
        <p:txBody>
          <a:bodyPr wrap="square" rtlCol="0" anchor="t"/>
          <a:lstStyle/>
          <a:p>
            <a:pPr indent="0" marL="0">
              <a:buNone/>
            </a:pPr>
            <a:r>
              <a:rPr lang="en-US" sz="1150" dirty="0">
                <a:solidFill>
                  <a:srgbClr val="EAF4F4"/>
                </a:solidFill>
                <a:latin typeface="Calibri" pitchFamily="34" charset="0"/>
                <a:ea typeface="Calibri" pitchFamily="34" charset="-122"/>
                <a:cs typeface="Calibri" pitchFamily="34" charset="-120"/>
              </a:rPr>
              <a:t>Car condition, traffic level, and weather show minimal impact on fare in this dataset.</a:t>
            </a:r>
            <a:endParaRPr lang="en-US" sz="1150" dirty="0"/>
          </a:p>
        </p:txBody>
      </p:sp>
      <p:sp>
        <p:nvSpPr>
          <p:cNvPr id="13" name="Shape 11"/>
          <p:cNvSpPr/>
          <p:nvPr/>
        </p:nvSpPr>
        <p:spPr>
          <a:xfrm>
            <a:off x="640080" y="4069080"/>
            <a:ext cx="10881360" cy="1051560"/>
          </a:xfrm>
          <a:prstGeom prst="roundRect">
            <a:avLst>
              <a:gd name="adj" fmla="val 5217"/>
            </a:avLst>
          </a:prstGeom>
          <a:solidFill>
            <a:srgbClr val="13315C"/>
          </a:solidFill>
          <a:ln/>
        </p:spPr>
      </p:sp>
      <p:sp>
        <p:nvSpPr>
          <p:cNvPr id="14" name="Text 12"/>
          <p:cNvSpPr/>
          <p:nvPr/>
        </p:nvSpPr>
        <p:spPr>
          <a:xfrm>
            <a:off x="868680" y="4251960"/>
            <a:ext cx="548640" cy="68580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1554480" y="4178808"/>
            <a:ext cx="97840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Demand and price peak at different times.</a:t>
            </a:r>
            <a:endParaRPr lang="en-US" sz="1500" dirty="0"/>
          </a:p>
        </p:txBody>
      </p:sp>
      <p:sp>
        <p:nvSpPr>
          <p:cNvPr id="16" name="Text 14"/>
          <p:cNvSpPr/>
          <p:nvPr/>
        </p:nvSpPr>
        <p:spPr>
          <a:xfrm>
            <a:off x="1554480" y="4544568"/>
            <a:ext cx="9784080" cy="502920"/>
          </a:xfrm>
          <a:prstGeom prst="rect">
            <a:avLst/>
          </a:prstGeom>
          <a:noFill/>
          <a:ln/>
        </p:spPr>
        <p:txBody>
          <a:bodyPr wrap="square" rtlCol="0" anchor="t"/>
          <a:lstStyle/>
          <a:p>
            <a:pPr indent="0" marL="0">
              <a:buNone/>
            </a:pPr>
            <a:r>
              <a:rPr lang="en-US" sz="1150" dirty="0">
                <a:solidFill>
                  <a:srgbClr val="EAF4F4"/>
                </a:solidFill>
                <a:latin typeface="Calibri" pitchFamily="34" charset="0"/>
                <a:ea typeface="Calibri" pitchFamily="34" charset="-122"/>
                <a:cs typeface="Calibri" pitchFamily="34" charset="-120"/>
              </a:rPr>
              <a:t>Ride requests rise through the day, while average fares trend higher overnight — two separate patterns worth modeling separately.</a:t>
            </a:r>
            <a:endParaRPr lang="en-US" sz="1150" dirty="0"/>
          </a:p>
        </p:txBody>
      </p:sp>
      <p:sp>
        <p:nvSpPr>
          <p:cNvPr id="17" name="Shape 15"/>
          <p:cNvSpPr/>
          <p:nvPr/>
        </p:nvSpPr>
        <p:spPr>
          <a:xfrm>
            <a:off x="640080" y="5257800"/>
            <a:ext cx="10881360" cy="1051560"/>
          </a:xfrm>
          <a:prstGeom prst="roundRect">
            <a:avLst>
              <a:gd name="adj" fmla="val 5217"/>
            </a:avLst>
          </a:prstGeom>
          <a:solidFill>
            <a:srgbClr val="13315C"/>
          </a:solidFill>
          <a:ln/>
        </p:spPr>
      </p:sp>
      <p:sp>
        <p:nvSpPr>
          <p:cNvPr id="18" name="Text 16"/>
          <p:cNvSpPr/>
          <p:nvPr/>
        </p:nvSpPr>
        <p:spPr>
          <a:xfrm>
            <a:off x="868680" y="5440680"/>
            <a:ext cx="548640" cy="68580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4</a:t>
            </a:r>
            <a:endParaRPr lang="en-US" sz="2600" dirty="0"/>
          </a:p>
        </p:txBody>
      </p:sp>
      <p:sp>
        <p:nvSpPr>
          <p:cNvPr id="19" name="Text 17"/>
          <p:cNvSpPr/>
          <p:nvPr/>
        </p:nvSpPr>
        <p:spPr>
          <a:xfrm>
            <a:off x="1554480" y="5367528"/>
            <a:ext cx="97840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Outliers need handling.</a:t>
            </a:r>
            <a:endParaRPr lang="en-US" sz="1500" dirty="0"/>
          </a:p>
        </p:txBody>
      </p:sp>
      <p:sp>
        <p:nvSpPr>
          <p:cNvPr id="20" name="Text 18"/>
          <p:cNvSpPr/>
          <p:nvPr/>
        </p:nvSpPr>
        <p:spPr>
          <a:xfrm>
            <a:off x="1554480" y="5733288"/>
            <a:ext cx="9784080" cy="502920"/>
          </a:xfrm>
          <a:prstGeom prst="rect">
            <a:avLst/>
          </a:prstGeom>
          <a:noFill/>
          <a:ln/>
        </p:spPr>
        <p:txBody>
          <a:bodyPr wrap="square" rtlCol="0" anchor="t"/>
          <a:lstStyle/>
          <a:p>
            <a:pPr indent="0" marL="0">
              <a:buNone/>
            </a:pPr>
            <a:r>
              <a:rPr lang="en-US" sz="1150" dirty="0">
                <a:solidFill>
                  <a:srgbClr val="EAF4F4"/>
                </a:solidFill>
                <a:latin typeface="Calibri" pitchFamily="34" charset="0"/>
                <a:ea typeface="Calibri" pitchFamily="34" charset="-122"/>
                <a:cs typeface="Calibri" pitchFamily="34" charset="-120"/>
              </a:rPr>
              <a:t>A right-skewed fare distribution with high-fare outliers (likely long/airport trips) should be addressed before training a model.</a:t>
            </a:r>
            <a:endParaRPr lang="en-US" sz="1150" dirty="0"/>
          </a:p>
        </p:txBody>
      </p:sp>
      <p:sp>
        <p:nvSpPr>
          <p:cNvPr id="21" name="Text 19"/>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18</a:t>
            </a:r>
            <a:endParaRPr lang="en-US" sz="1000" dirty="0"/>
          </a:p>
        </p:txBody>
      </p:sp>
      <p:sp>
        <p:nvSpPr>
          <p:cNvPr id="22" name="Text 20"/>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828800" y="4572000"/>
            <a:ext cx="5486400" cy="5486400"/>
          </a:xfrm>
          <a:prstGeom prst="ellipse">
            <a:avLst/>
          </a:prstGeom>
          <a:solidFill>
            <a:srgbClr val="1C7293">
              <a:alpha val="18000"/>
            </a:srgbClr>
          </a:solidFill>
          <a:ln/>
        </p:spPr>
      </p:sp>
      <p:sp>
        <p:nvSpPr>
          <p:cNvPr id="3" name="Text 1"/>
          <p:cNvSpPr/>
          <p:nvPr/>
        </p:nvSpPr>
        <p:spPr>
          <a:xfrm>
            <a:off x="822960" y="1920240"/>
            <a:ext cx="91440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Insight to Modeling</a:t>
            </a:r>
            <a:endParaRPr lang="en-US" sz="3400" dirty="0"/>
          </a:p>
        </p:txBody>
      </p:sp>
      <p:sp>
        <p:nvSpPr>
          <p:cNvPr id="4" name="Text 2"/>
          <p:cNvSpPr/>
          <p:nvPr/>
        </p:nvSpPr>
        <p:spPr>
          <a:xfrm>
            <a:off x="822960" y="2743200"/>
            <a:ext cx="8686800" cy="914400"/>
          </a:xfrm>
          <a:prstGeom prst="rect">
            <a:avLst/>
          </a:prstGeom>
          <a:noFill/>
          <a:ln/>
        </p:spPr>
        <p:txBody>
          <a:bodyPr wrap="square" rtlCol="0" anchor="t"/>
          <a:lstStyle/>
          <a:p>
            <a:pPr indent="0" marL="0">
              <a:buNone/>
            </a:pPr>
            <a:r>
              <a:rPr lang="en-US" sz="1500" dirty="0">
                <a:solidFill>
                  <a:srgbClr val="EAF4F4"/>
                </a:solidFill>
                <a:latin typeface="Calibri" pitchFamily="34" charset="0"/>
                <a:ea typeface="Calibri" pitchFamily="34" charset="-122"/>
                <a:cs typeface="Calibri" pitchFamily="34" charset="-120"/>
              </a:rPr>
              <a:t>Task 2 will build on these findings — engineering distance and airport-proximity features, handling fare outliers, and testing whether time-of-day patterns improve prediction.</a:t>
            </a:r>
            <a:endParaRPr lang="en-US" sz="1500" dirty="0"/>
          </a:p>
        </p:txBody>
      </p:sp>
      <p:sp>
        <p:nvSpPr>
          <p:cNvPr id="5" name="Text 3"/>
          <p:cNvSpPr/>
          <p:nvPr/>
        </p:nvSpPr>
        <p:spPr>
          <a:xfrm>
            <a:off x="822960" y="4114800"/>
            <a:ext cx="5486400" cy="548640"/>
          </a:xfrm>
          <a:prstGeom prst="rect">
            <a:avLst/>
          </a:prstGeom>
          <a:noFill/>
          <a:ln/>
        </p:spPr>
        <p:txBody>
          <a:bodyPr wrap="square" rtlCol="0" anchor="ctr"/>
          <a:lstStyle/>
          <a:p>
            <a:pPr indent="0" marL="0">
              <a:buNone/>
            </a:pPr>
            <a:r>
              <a:rPr lang="en-US" sz="2000" b="1" dirty="0">
                <a:solidFill>
                  <a:srgbClr val="9FD8CB"/>
                </a:solidFill>
                <a:latin typeface="Cambria" pitchFamily="34" charset="0"/>
                <a:ea typeface="Cambria" pitchFamily="34" charset="-122"/>
                <a:cs typeface="Cambria" pitchFamily="34" charset="-120"/>
              </a:rPr>
              <a:t>Thank you</a:t>
            </a:r>
            <a:endParaRPr lang="en-US" sz="2000" dirty="0"/>
          </a:p>
        </p:txBody>
      </p:sp>
      <p:sp>
        <p:nvSpPr>
          <p:cNvPr id="6" name="Text 4"/>
          <p:cNvSpPr/>
          <p:nvPr/>
        </p:nvSpPr>
        <p:spPr>
          <a:xfrm>
            <a:off x="822960" y="4617720"/>
            <a:ext cx="7315200" cy="365760"/>
          </a:xfrm>
          <a:prstGeom prst="rect">
            <a:avLst/>
          </a:prstGeom>
          <a:noFill/>
          <a:ln/>
        </p:spPr>
        <p:txBody>
          <a:bodyPr wrap="square" rtlCol="0" anchor="ctr"/>
          <a:lstStyle/>
          <a:p>
            <a:pPr indent="0" marL="0">
              <a:buNone/>
            </a:pPr>
            <a:r>
              <a:rPr lang="en-US" sz="1200" dirty="0">
                <a:solidFill>
                  <a:srgbClr val="5B7280"/>
                </a:solidFill>
                <a:latin typeface="Calibri" pitchFamily="34" charset="0"/>
                <a:ea typeface="Calibri" pitchFamily="34" charset="-122"/>
                <a:cs typeface="Calibri" pitchFamily="34" charset="-120"/>
              </a:rPr>
              <a:t>Ahmed Elghrably — Cellula Technologies ML Internship Program</a:t>
            </a:r>
            <a:endParaRPr lang="en-US" sz="1200" dirty="0"/>
          </a:p>
        </p:txBody>
      </p:sp>
      <p:sp>
        <p:nvSpPr>
          <p:cNvPr id="7" name="Text 5"/>
          <p:cNvSpPr/>
          <p:nvPr/>
        </p:nvSpPr>
        <p:spPr>
          <a:xfrm>
            <a:off x="9445752" y="6446520"/>
            <a:ext cx="2377440" cy="274320"/>
          </a:xfrm>
          <a:prstGeom prst="rect">
            <a:avLst/>
          </a:prstGeom>
          <a:noFill/>
          <a:ln/>
        </p:spPr>
        <p:txBody>
          <a:bodyPr wrap="square" rtlCol="0" anchor="ctr"/>
          <a:lstStyle/>
          <a:p>
            <a:pPr algn="r" indent="0" marL="0">
              <a:buNone/>
            </a:pPr>
            <a:r>
              <a:rPr lang="en-US" sz="1000" dirty="0">
                <a:solidFill>
                  <a:srgbClr val="5B7280"/>
                </a:solidFill>
                <a:latin typeface="Calibri" pitchFamily="34" charset="0"/>
                <a:ea typeface="Calibri" pitchFamily="34" charset="-122"/>
                <a:cs typeface="Calibri" pitchFamily="34" charset="-120"/>
              </a:rPr>
              <a:t>19</a:t>
            </a:r>
            <a:endParaRPr lang="en-US" sz="1000" dirty="0"/>
          </a:p>
        </p:txBody>
      </p:sp>
      <p:sp>
        <p:nvSpPr>
          <p:cNvPr id="8" name="Text 6"/>
          <p:cNvSpPr/>
          <p:nvPr/>
        </p:nvSpPr>
        <p:spPr>
          <a:xfrm>
            <a:off x="457200" y="6446520"/>
            <a:ext cx="4572000" cy="274320"/>
          </a:xfrm>
          <a:prstGeom prst="rect">
            <a:avLst/>
          </a:prstGeom>
          <a:noFill/>
          <a:ln/>
        </p:spPr>
        <p:txBody>
          <a:bodyPr wrap="square" rtlCol="0" anchor="ctr"/>
          <a:lstStyle/>
          <a:p>
            <a:pPr algn="l" indent="0" marL="0">
              <a:buNone/>
            </a:pPr>
            <a:r>
              <a:rPr lang="en-US" sz="1000" dirty="0">
                <a:solidFill>
                  <a:srgbClr val="5B7280"/>
                </a:solidFill>
                <a:latin typeface="Calibri" pitchFamily="34" charset="0"/>
                <a:ea typeface="Calibri" pitchFamily="34" charset="-122"/>
                <a:cs typeface="Calibri" pitchFamily="34" charset="-120"/>
              </a:rPr>
              <a:t>Uber Fare Prediction • Task 1: EDA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Fare Prediction - EDA (Task 1)</dc:title>
  <dc:subject>PptxGenJS Presentation</dc:subject>
  <dc:creator>Ahmed</dc:creator>
  <cp:lastModifiedBy>Ahmed</cp:lastModifiedBy>
  <cp:revision>1</cp:revision>
  <dcterms:created xsi:type="dcterms:W3CDTF">2026-07-10T13:30:55Z</dcterms:created>
  <dcterms:modified xsi:type="dcterms:W3CDTF">2026-07-10T13:30:55Z</dcterms:modified>
</cp:coreProperties>
</file>